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6463295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a6463295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acbc38cb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aacbc38cb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acbc38cb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aacbc38cb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acbc38cb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aacbc38cb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acbc38c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aacbc38c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55350" y="515000"/>
            <a:ext cx="8599800" cy="444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0588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>
                <a:solidFill>
                  <a:srgbClr val="1C4587"/>
                </a:solidFill>
              </a:rPr>
              <a:t>Лекция</a:t>
            </a:r>
            <a:r>
              <a:rPr b="1" lang="cs" sz="2800">
                <a:solidFill>
                  <a:srgbClr val="1C4587"/>
                </a:solidFill>
              </a:rPr>
              <a:t> </a:t>
            </a:r>
            <a:r>
              <a:rPr b="1" lang="cs">
                <a:solidFill>
                  <a:srgbClr val="1C4587"/>
                </a:solidFill>
              </a:rPr>
              <a:t>6</a:t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3500">
                <a:solidFill>
                  <a:srgbClr val="1C4587"/>
                </a:solidFill>
              </a:rPr>
              <a:t>Функции в JavaScript</a:t>
            </a:r>
            <a:endParaRPr b="1" sz="35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1983">
                <a:solidFill>
                  <a:srgbClr val="1C4587"/>
                </a:solidFill>
              </a:rPr>
              <a:t>(объявление функции, функциональное выражение, анонимные и стрелочные функции)</a:t>
            </a:r>
            <a:endParaRPr b="1" sz="1983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2800">
                <a:solidFill>
                  <a:srgbClr val="1C4587"/>
                </a:solidFill>
              </a:rPr>
              <a:t>лектор </a:t>
            </a:r>
            <a:r>
              <a:rPr b="1" lang="cs">
                <a:solidFill>
                  <a:srgbClr val="1C4587"/>
                </a:solidFill>
              </a:rPr>
              <a:t>Олексий Шевченко</a:t>
            </a:r>
            <a:endParaRPr b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86670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Функция</a:t>
            </a:r>
            <a:r>
              <a:rPr lang="cs" sz="1600">
                <a:solidFill>
                  <a:srgbClr val="2B3990"/>
                </a:solidFill>
              </a:rPr>
              <a:t> — это именованный (или анонимный) фрагмент кода, который выполняет конкретную задачу, может возвращать какое-то значение и </a:t>
            </a:r>
            <a:r>
              <a:rPr lang="cs" sz="1600">
                <a:solidFill>
                  <a:srgbClr val="2B3990"/>
                </a:solidFill>
              </a:rPr>
              <a:t>переиспользоваться</a:t>
            </a:r>
            <a:r>
              <a:rPr lang="cs" sz="1600">
                <a:solidFill>
                  <a:srgbClr val="2B3990"/>
                </a:solidFill>
              </a:rPr>
              <a:t> в разных частях программы.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Функции позволяют:</a:t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- переиспользовать один и тот же код,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- разбивать программу на логические части,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- инкапсулировать (прятать) логику,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- передавать поведение как аргументы (колбэки).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AutoNum type="arabicPeriod"/>
            </a:pPr>
            <a:r>
              <a:rPr b="1" lang="cs" sz="1600">
                <a:solidFill>
                  <a:srgbClr val="2B3990"/>
                </a:solidFill>
              </a:rPr>
              <a:t>О</a:t>
            </a:r>
            <a:r>
              <a:rPr b="1" lang="cs" sz="1600">
                <a:solidFill>
                  <a:srgbClr val="2B3990"/>
                </a:solidFill>
              </a:rPr>
              <a:t>бъявление функции или </a:t>
            </a:r>
            <a:r>
              <a:rPr b="1" lang="cs" sz="1600">
                <a:solidFill>
                  <a:srgbClr val="2B3990"/>
                </a:solidFill>
              </a:rPr>
              <a:t>Function Declaration</a:t>
            </a:r>
            <a:r>
              <a:rPr lang="cs" sz="1600">
                <a:solidFill>
                  <a:srgbClr val="2B3990"/>
                </a:solidFill>
              </a:rPr>
              <a:t> - это основной вид функции: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function greet(name) {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return `Hello, ${name}!`;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}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console.log(greet("Alex")); // Hello, Alex!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-</a:t>
            </a:r>
            <a:r>
              <a:rPr b="1" lang="cs" sz="1600">
                <a:solidFill>
                  <a:srgbClr val="38761D"/>
                </a:solidFill>
              </a:rPr>
              <a:t> greet </a:t>
            </a:r>
            <a:r>
              <a:rPr lang="cs" sz="1600">
                <a:solidFill>
                  <a:srgbClr val="2B3990"/>
                </a:solidFill>
              </a:rPr>
              <a:t>— имя функции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- </a:t>
            </a:r>
            <a:r>
              <a:rPr b="1" lang="cs" sz="1600">
                <a:solidFill>
                  <a:srgbClr val="38761D"/>
                </a:solidFill>
              </a:rPr>
              <a:t>name</a:t>
            </a:r>
            <a:r>
              <a:rPr lang="cs" sz="1600">
                <a:solidFill>
                  <a:srgbClr val="2B3990"/>
                </a:solidFill>
              </a:rPr>
              <a:t> — параметр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- </a:t>
            </a:r>
            <a:r>
              <a:rPr b="1" lang="cs" sz="1600">
                <a:solidFill>
                  <a:srgbClr val="38761D"/>
                </a:solidFill>
              </a:rPr>
              <a:t>return </a:t>
            </a:r>
            <a:r>
              <a:rPr lang="cs" sz="1600">
                <a:solidFill>
                  <a:srgbClr val="2B3990"/>
                </a:solidFill>
              </a:rPr>
              <a:t>— возвращает значение (если не указан — возвращает </a:t>
            </a:r>
            <a:r>
              <a:rPr b="1" lang="cs" sz="1600">
                <a:solidFill>
                  <a:srgbClr val="38761D"/>
                </a:solidFill>
              </a:rPr>
              <a:t>undefined</a:t>
            </a:r>
            <a:r>
              <a:rPr lang="cs" sz="1600">
                <a:solidFill>
                  <a:srgbClr val="2B3990"/>
                </a:solidFill>
              </a:rPr>
              <a:t>)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- при вызове функции мы </a:t>
            </a:r>
            <a:r>
              <a:rPr lang="cs" sz="1600">
                <a:solidFill>
                  <a:srgbClr val="2B3990"/>
                </a:solidFill>
              </a:rPr>
              <a:t>передаем</a:t>
            </a:r>
            <a:r>
              <a:rPr lang="cs" sz="1600">
                <a:solidFill>
                  <a:srgbClr val="2B3990"/>
                </a:solidFill>
              </a:rPr>
              <a:t> аргумент - реальные значение.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0"/>
            <a:ext cx="86670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2.  Анонимные функции - </a:t>
            </a:r>
            <a:r>
              <a:rPr lang="cs" sz="1600">
                <a:solidFill>
                  <a:srgbClr val="2B3990"/>
                </a:solidFill>
              </a:rPr>
              <a:t>это функции которые не имеют имени, они </a:t>
            </a:r>
            <a:r>
              <a:rPr lang="cs" sz="1600">
                <a:solidFill>
                  <a:srgbClr val="2B3990"/>
                </a:solidFill>
              </a:rPr>
              <a:t>служат</a:t>
            </a:r>
            <a:r>
              <a:rPr lang="cs" sz="1600">
                <a:solidFill>
                  <a:srgbClr val="2B3990"/>
                </a:solidFill>
              </a:rPr>
              <a:t> для небольших </a:t>
            </a:r>
            <a:r>
              <a:rPr lang="cs" sz="1600">
                <a:solidFill>
                  <a:srgbClr val="2B3990"/>
                </a:solidFill>
              </a:rPr>
              <a:t>одноразовых</a:t>
            </a:r>
            <a:r>
              <a:rPr lang="cs" sz="1600">
                <a:solidFill>
                  <a:srgbClr val="2B3990"/>
                </a:solidFill>
              </a:rPr>
              <a:t> действий. Они используются: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- Методы массивов: </a:t>
            </a:r>
            <a:r>
              <a:rPr b="1" lang="cs" sz="1600">
                <a:solidFill>
                  <a:srgbClr val="2B3990"/>
                </a:solidFill>
              </a:rPr>
              <a:t>map, filter, reduce</a:t>
            </a:r>
            <a:r>
              <a:rPr lang="cs" sz="1600">
                <a:solidFill>
                  <a:srgbClr val="2B3990"/>
                </a:solidFill>
              </a:rPr>
              <a:t>;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- Обработчики событий (в браузере);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В таймерах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38761D"/>
                </a:solidFill>
              </a:rPr>
              <a:t>function(a, b) {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38761D"/>
                </a:solidFill>
              </a:rPr>
              <a:t>  return a + b;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38761D"/>
                </a:solidFill>
              </a:rPr>
              <a:t>};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3,  Функциональное выражение или Function Expression  - </a:t>
            </a:r>
            <a:r>
              <a:rPr lang="cs" sz="1600">
                <a:solidFill>
                  <a:srgbClr val="2B3990"/>
                </a:solidFill>
              </a:rPr>
              <a:t>это анонимные </a:t>
            </a:r>
            <a:r>
              <a:rPr lang="cs" sz="1600">
                <a:solidFill>
                  <a:srgbClr val="2B3990"/>
                </a:solidFill>
              </a:rPr>
              <a:t>функции</a:t>
            </a:r>
            <a:r>
              <a:rPr lang="cs" sz="1600">
                <a:solidFill>
                  <a:srgbClr val="2B3990"/>
                </a:solidFill>
              </a:rPr>
              <a:t> которые </a:t>
            </a:r>
            <a:r>
              <a:rPr lang="cs" sz="1600">
                <a:solidFill>
                  <a:srgbClr val="2B3990"/>
                </a:solidFill>
              </a:rPr>
              <a:t>присвоены</a:t>
            </a:r>
            <a:r>
              <a:rPr lang="cs" sz="1600">
                <a:solidFill>
                  <a:srgbClr val="2B3990"/>
                </a:solidFill>
              </a:rPr>
              <a:t> значениям к переменным, для того </a:t>
            </a:r>
            <a:r>
              <a:rPr lang="cs" sz="1600">
                <a:solidFill>
                  <a:srgbClr val="2B3990"/>
                </a:solidFill>
              </a:rPr>
              <a:t>чтобы</a:t>
            </a:r>
            <a:r>
              <a:rPr lang="cs" sz="1600">
                <a:solidFill>
                  <a:srgbClr val="2B3990"/>
                </a:solidFill>
              </a:rPr>
              <a:t> их можно было самостоятельно использовать: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38761D"/>
                </a:solidFill>
              </a:rPr>
              <a:t>const sum = </a:t>
            </a:r>
            <a:r>
              <a:rPr b="1" lang="cs" sz="1600">
                <a:solidFill>
                  <a:srgbClr val="38761D"/>
                </a:solidFill>
              </a:rPr>
              <a:t>function(a, b) {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38761D"/>
                </a:solidFill>
              </a:rPr>
              <a:t>  return a + b;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};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4. Стрелочные функции или Arrow functions — </a:t>
            </a:r>
            <a:r>
              <a:rPr lang="cs" sz="1600">
                <a:solidFill>
                  <a:srgbClr val="2B3990"/>
                </a:solidFill>
              </a:rPr>
              <a:t>были добавлены в стандарт ES6 (2015) как более короткая и современная форма записи функций: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const sum = (a, b) =&gt; a + b;</a:t>
            </a:r>
            <a:endParaRPr b="1" sz="16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0"/>
            <a:ext cx="8667000" cy="4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Практика:</a:t>
            </a:r>
            <a:endParaRPr b="1" sz="1600">
              <a:solidFill>
                <a:srgbClr val="2B3990"/>
              </a:solidFill>
            </a:endParaRPr>
          </a:p>
          <a:p>
            <a:pPr indent="-10160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AutoNum type="arabicPeriod"/>
            </a:pPr>
            <a:r>
              <a:rPr lang="cs" sz="1600">
                <a:solidFill>
                  <a:schemeClr val="dk1"/>
                </a:solidFill>
              </a:rPr>
              <a:t> </a:t>
            </a:r>
            <a:r>
              <a:rPr lang="cs" sz="1600">
                <a:solidFill>
                  <a:srgbClr val="2B3990"/>
                </a:solidFill>
              </a:rPr>
              <a:t>Напиши функцию </a:t>
            </a:r>
            <a:r>
              <a:rPr b="1" lang="cs" sz="1600">
                <a:solidFill>
                  <a:srgbClr val="2B3990"/>
                </a:solidFill>
              </a:rPr>
              <a:t>greetUser</a:t>
            </a:r>
            <a:r>
              <a:rPr lang="cs" sz="1600">
                <a:solidFill>
                  <a:srgbClr val="2B3990"/>
                </a:solidFill>
              </a:rPr>
              <a:t>, которая принимает объект:</a:t>
            </a:r>
            <a:endParaRPr sz="1600">
              <a:solidFill>
                <a:srgbClr val="2B3990"/>
              </a:solidFill>
            </a:endParaRPr>
          </a:p>
          <a:p>
            <a:pPr indent="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{ name: "Alex", age: 25 }</a:t>
            </a:r>
            <a:endParaRPr b="1" sz="1600">
              <a:solidFill>
                <a:srgbClr val="38761D"/>
              </a:solidFill>
            </a:endParaRPr>
          </a:p>
          <a:p>
            <a:pPr indent="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и выводит строку: </a:t>
            </a:r>
            <a:r>
              <a:rPr b="1" lang="cs" sz="1600">
                <a:solidFill>
                  <a:srgbClr val="38761D"/>
                </a:solidFill>
              </a:rPr>
              <a:t>Привет, Alex! Тебе 25 лет.</a:t>
            </a:r>
            <a:endParaRPr b="1" sz="1600">
              <a:solidFill>
                <a:srgbClr val="38761D"/>
              </a:solidFill>
            </a:endParaRPr>
          </a:p>
          <a:p>
            <a:pPr indent="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Используй </a:t>
            </a:r>
            <a:r>
              <a:rPr b="1" lang="cs" sz="1600">
                <a:solidFill>
                  <a:srgbClr val="2B3990"/>
                </a:solidFill>
              </a:rPr>
              <a:t>деструктуризацию</a:t>
            </a:r>
            <a:r>
              <a:rPr lang="cs" sz="1600">
                <a:solidFill>
                  <a:srgbClr val="2B3990"/>
                </a:solidFill>
              </a:rPr>
              <a:t> объекта внутри функции.</a:t>
            </a:r>
            <a:endParaRPr sz="1600">
              <a:solidFill>
                <a:srgbClr val="2B3990"/>
              </a:solidFill>
            </a:endParaRPr>
          </a:p>
          <a:p>
            <a:pPr indent="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AutoNum type="arabicPeriod"/>
            </a:pPr>
            <a:r>
              <a:rPr lang="cs" sz="1600">
                <a:solidFill>
                  <a:srgbClr val="2B3990"/>
                </a:solidFill>
              </a:rPr>
              <a:t>Напиши функцию </a:t>
            </a:r>
            <a:r>
              <a:rPr b="1" lang="cs" sz="1600">
                <a:solidFill>
                  <a:srgbClr val="38761D"/>
                </a:solidFill>
              </a:rPr>
              <a:t>getLastItem</a:t>
            </a:r>
            <a:r>
              <a:rPr lang="cs" sz="1600">
                <a:solidFill>
                  <a:srgbClr val="2B3990"/>
                </a:solidFill>
              </a:rPr>
              <a:t>, которая принимает массив и возвращает его последний элемент. Если массив пустой → возвращает "</a:t>
            </a:r>
            <a:r>
              <a:rPr b="1" lang="cs" sz="1600">
                <a:solidFill>
                  <a:srgbClr val="38761D"/>
                </a:solidFill>
              </a:rPr>
              <a:t>массив пуст</a:t>
            </a:r>
            <a:r>
              <a:rPr lang="cs" sz="1600">
                <a:solidFill>
                  <a:srgbClr val="2B3990"/>
                </a:solidFill>
              </a:rPr>
              <a:t>"</a:t>
            </a:r>
            <a:r>
              <a:rPr lang="cs" sz="1100">
                <a:solidFill>
                  <a:schemeClr val="dk1"/>
                </a:solidFill>
              </a:rPr>
              <a:t>.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AutoNum type="arabicPeriod"/>
            </a:pPr>
            <a:r>
              <a:rPr lang="cs" sz="1600">
                <a:solidFill>
                  <a:srgbClr val="2B3990"/>
                </a:solidFill>
              </a:rPr>
              <a:t>Напиши функцию </a:t>
            </a:r>
            <a:r>
              <a:rPr b="1" lang="cs" sz="1600">
                <a:solidFill>
                  <a:srgbClr val="38761D"/>
                </a:solidFill>
              </a:rPr>
              <a:t>hasProperty(obj, key),</a:t>
            </a:r>
            <a:r>
              <a:rPr lang="cs" sz="1600">
                <a:solidFill>
                  <a:srgbClr val="2B3990"/>
                </a:solidFill>
              </a:rPr>
              <a:t> которая принимает объект и строку. Функция должна вернуть: 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		- </a:t>
            </a:r>
            <a:r>
              <a:rPr b="1" lang="cs" sz="1600">
                <a:solidFill>
                  <a:srgbClr val="38761D"/>
                </a:solidFill>
              </a:rPr>
              <a:t>true</a:t>
            </a:r>
            <a:r>
              <a:rPr lang="cs" sz="1600">
                <a:solidFill>
                  <a:srgbClr val="38761D"/>
                </a:solidFill>
              </a:rPr>
              <a:t> </a:t>
            </a:r>
            <a:r>
              <a:rPr lang="cs" sz="1600">
                <a:solidFill>
                  <a:srgbClr val="2B3990"/>
                </a:solidFill>
              </a:rPr>
              <a:t>— если свойство существует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		-</a:t>
            </a:r>
            <a:r>
              <a:rPr b="1" lang="cs" sz="1600">
                <a:solidFill>
                  <a:srgbClr val="188038"/>
                </a:solidFill>
              </a:rPr>
              <a:t> </a:t>
            </a:r>
            <a:r>
              <a:rPr b="1" lang="cs" sz="1600">
                <a:solidFill>
                  <a:srgbClr val="38761D"/>
                </a:solidFill>
              </a:rPr>
              <a:t>false</a:t>
            </a:r>
            <a:r>
              <a:rPr b="1" lang="cs" sz="1600">
                <a:solidFill>
                  <a:srgbClr val="188038"/>
                </a:solidFill>
              </a:rPr>
              <a:t> </a:t>
            </a:r>
            <a:r>
              <a:rPr lang="cs" sz="1600">
                <a:solidFill>
                  <a:srgbClr val="2B3990"/>
                </a:solidFill>
              </a:rPr>
              <a:t>— если нет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AutoNum type="arabicPeriod"/>
            </a:pPr>
            <a:r>
              <a:rPr lang="cs" sz="1600">
                <a:solidFill>
                  <a:srgbClr val="2B3990"/>
                </a:solidFill>
              </a:rPr>
              <a:t>Напишите</a:t>
            </a:r>
            <a:r>
              <a:rPr lang="cs" sz="1600">
                <a:solidFill>
                  <a:srgbClr val="2B3990"/>
                </a:solidFill>
              </a:rPr>
              <a:t> функцию</a:t>
            </a:r>
            <a:r>
              <a:rPr b="1" lang="cs" sz="1600">
                <a:solidFill>
                  <a:srgbClr val="2B3990"/>
                </a:solidFill>
              </a:rPr>
              <a:t> </a:t>
            </a:r>
            <a:r>
              <a:rPr b="1" lang="cs" sz="1600">
                <a:solidFill>
                  <a:srgbClr val="38761D"/>
                </a:solidFill>
              </a:rPr>
              <a:t>sumObjectValues(obj)</a:t>
            </a:r>
            <a:r>
              <a:rPr b="1" lang="cs" sz="1600">
                <a:solidFill>
                  <a:srgbClr val="2B3990"/>
                </a:solidFill>
              </a:rPr>
              <a:t>, </a:t>
            </a:r>
            <a:r>
              <a:rPr lang="cs" sz="1600">
                <a:solidFill>
                  <a:srgbClr val="2B3990"/>
                </a:solidFill>
              </a:rPr>
              <a:t>которая возвращает сумму всех чисел</a:t>
            </a:r>
            <a:r>
              <a:rPr b="1" lang="cs" sz="1600">
                <a:solidFill>
                  <a:srgbClr val="2B3990"/>
                </a:solidFill>
              </a:rPr>
              <a:t> </a:t>
            </a:r>
            <a:r>
              <a:rPr lang="cs" sz="1600">
                <a:solidFill>
                  <a:srgbClr val="2B3990"/>
                </a:solidFill>
              </a:rPr>
              <a:t>объекта</a:t>
            </a:r>
            <a:r>
              <a:rPr b="1" lang="cs" sz="1600">
                <a:solidFill>
                  <a:srgbClr val="2B3990"/>
                </a:solidFill>
              </a:rPr>
              <a:t>: </a:t>
            </a:r>
            <a:r>
              <a:rPr b="1" lang="cs" sz="1600">
                <a:solidFill>
                  <a:srgbClr val="38761D"/>
                </a:solidFill>
              </a:rPr>
              <a:t> const data = { a: 2, b: 5, c: 7 };</a:t>
            </a:r>
            <a:endParaRPr sz="16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86670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5. </a:t>
            </a:r>
            <a:r>
              <a:rPr lang="cs" sz="1600">
                <a:solidFill>
                  <a:srgbClr val="2B3990"/>
                </a:solidFill>
              </a:rPr>
              <a:t>Напиши функцию </a:t>
            </a:r>
            <a:r>
              <a:rPr b="1" lang="cs" sz="1600">
                <a:solidFill>
                  <a:srgbClr val="38761D"/>
                </a:solidFill>
              </a:rPr>
              <a:t>filterByLength(arr, minLen)</a:t>
            </a:r>
            <a:r>
              <a:rPr lang="cs" sz="1600">
                <a:solidFill>
                  <a:srgbClr val="2B3990"/>
                </a:solidFill>
              </a:rPr>
              <a:t>, которая принимает: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- массив строк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- минимальную длину строки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И возвращает новый массив, где только строки длиннее </a:t>
            </a:r>
            <a:r>
              <a:rPr b="1" lang="cs" sz="1600">
                <a:solidFill>
                  <a:srgbClr val="38761D"/>
                </a:solidFill>
              </a:rPr>
              <a:t>minLen.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6.</a:t>
            </a:r>
            <a:r>
              <a:rPr lang="cs" sz="1600">
                <a:solidFill>
                  <a:srgbClr val="2B3990"/>
                </a:solidFill>
              </a:rPr>
              <a:t> Напиши функцию</a:t>
            </a:r>
            <a:r>
              <a:rPr b="1" lang="cs" sz="1600">
                <a:solidFill>
                  <a:srgbClr val="38761D"/>
                </a:solidFill>
              </a:rPr>
              <a:t> createUser(name, age)</a:t>
            </a:r>
            <a:r>
              <a:rPr lang="cs" sz="1600">
                <a:solidFill>
                  <a:srgbClr val="2B3990"/>
                </a:solidFill>
              </a:rPr>
              <a:t>, которая возвращает объект: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{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id: &lt;случайное число от 1 до 1000&gt;,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name: "",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age: 0,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isActive: true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}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ID генерируй внутри функции с помощью</a:t>
            </a:r>
            <a:r>
              <a:rPr b="1" lang="cs" sz="1600">
                <a:solidFill>
                  <a:srgbClr val="2B3990"/>
                </a:solidFill>
              </a:rPr>
              <a:t> </a:t>
            </a:r>
            <a:r>
              <a:rPr b="1" lang="cs" sz="1600">
                <a:solidFill>
                  <a:srgbClr val="38761D"/>
                </a:solidFill>
              </a:rPr>
              <a:t>Math.random().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7. </a:t>
            </a:r>
            <a:r>
              <a:rPr lang="cs" sz="1600">
                <a:solidFill>
                  <a:srgbClr val="2B3990"/>
                </a:solidFill>
              </a:rPr>
              <a:t>Напиши функцию</a:t>
            </a:r>
            <a:r>
              <a:rPr b="1" lang="cs" sz="1600">
                <a:solidFill>
                  <a:srgbClr val="2B3990"/>
                </a:solidFill>
              </a:rPr>
              <a:t> </a:t>
            </a:r>
            <a:r>
              <a:rPr b="1" lang="cs" sz="1600">
                <a:solidFill>
                  <a:srgbClr val="38761D"/>
                </a:solidFill>
              </a:rPr>
              <a:t>countEven(numbers),</a:t>
            </a:r>
            <a:r>
              <a:rPr b="1" lang="cs" sz="1600">
                <a:solidFill>
                  <a:srgbClr val="2B3990"/>
                </a:solidFill>
              </a:rPr>
              <a:t> </a:t>
            </a:r>
            <a:r>
              <a:rPr lang="cs" sz="1600">
                <a:solidFill>
                  <a:srgbClr val="2B3990"/>
                </a:solidFill>
              </a:rPr>
              <a:t>которая принимает массив чисел и возвращает количество чётных чисел.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86670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8.  </a:t>
            </a:r>
            <a:r>
              <a:rPr lang="cs" sz="1600">
                <a:solidFill>
                  <a:srgbClr val="2B3990"/>
                </a:solidFill>
              </a:rPr>
              <a:t>Напиши функцию</a:t>
            </a:r>
            <a:r>
              <a:rPr b="1" lang="cs" sz="1600">
                <a:solidFill>
                  <a:srgbClr val="2B3990"/>
                </a:solidFill>
              </a:rPr>
              <a:t> </a:t>
            </a:r>
            <a:r>
              <a:rPr b="1" lang="cs" sz="1600">
                <a:solidFill>
                  <a:srgbClr val="38761D"/>
                </a:solidFill>
              </a:rPr>
              <a:t>formatName</a:t>
            </a:r>
            <a:r>
              <a:rPr b="1" lang="cs" sz="1600">
                <a:solidFill>
                  <a:srgbClr val="38761D"/>
                </a:solidFill>
              </a:rPr>
              <a:t>(fullName),</a:t>
            </a:r>
            <a:r>
              <a:rPr b="1" lang="cs" sz="1600">
                <a:solidFill>
                  <a:srgbClr val="2B3990"/>
                </a:solidFill>
              </a:rPr>
              <a:t> </a:t>
            </a:r>
            <a:r>
              <a:rPr lang="cs" sz="1600">
                <a:solidFill>
                  <a:srgbClr val="2B3990"/>
                </a:solidFill>
              </a:rPr>
              <a:t>которая принимает строку</a:t>
            </a:r>
            <a:r>
              <a:rPr b="1" lang="cs" sz="1600">
                <a:solidFill>
                  <a:srgbClr val="2B3990"/>
                </a:solidFill>
              </a:rPr>
              <a:t> </a:t>
            </a:r>
            <a:r>
              <a:rPr b="1" lang="cs" sz="1600">
                <a:solidFill>
                  <a:srgbClr val="38761D"/>
                </a:solidFill>
              </a:rPr>
              <a:t>"oleksii shevchenko"</a:t>
            </a:r>
            <a:r>
              <a:rPr b="1" lang="cs" sz="1600">
                <a:solidFill>
                  <a:srgbClr val="2B3990"/>
                </a:solidFill>
              </a:rPr>
              <a:t> </a:t>
            </a:r>
            <a:r>
              <a:rPr lang="cs" sz="1600">
                <a:solidFill>
                  <a:srgbClr val="2B3990"/>
                </a:solidFill>
              </a:rPr>
              <a:t>и возвращает</a:t>
            </a:r>
            <a:r>
              <a:rPr b="1" lang="cs" sz="1600">
                <a:solidFill>
                  <a:srgbClr val="2B3990"/>
                </a:solidFill>
              </a:rPr>
              <a:t> </a:t>
            </a:r>
            <a:r>
              <a:rPr b="1" lang="cs" sz="1600">
                <a:solidFill>
                  <a:srgbClr val="38761D"/>
                </a:solidFill>
              </a:rPr>
              <a:t>"Oleksii Shevchenko"</a:t>
            </a:r>
            <a:r>
              <a:rPr b="1" lang="cs" sz="1600">
                <a:solidFill>
                  <a:srgbClr val="2B3990"/>
                </a:solidFill>
              </a:rPr>
              <a:t>.</a:t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То есть первая буква каждого слова — большая.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9. </a:t>
            </a:r>
            <a:r>
              <a:rPr lang="cs" sz="1600">
                <a:solidFill>
                  <a:srgbClr val="2B3990"/>
                </a:solidFill>
              </a:rPr>
              <a:t>Напиши функцию </a:t>
            </a:r>
            <a:r>
              <a:rPr b="1" lang="cs" sz="1600">
                <a:solidFill>
                  <a:srgbClr val="38761D"/>
                </a:solidFill>
              </a:rPr>
              <a:t>merge(obj1, obj2)</a:t>
            </a:r>
            <a:r>
              <a:rPr b="1" lang="cs" sz="1600">
                <a:solidFill>
                  <a:srgbClr val="2B3990"/>
                </a:solidFill>
              </a:rPr>
              <a:t>, </a:t>
            </a:r>
            <a:r>
              <a:rPr lang="cs" sz="1600">
                <a:solidFill>
                  <a:srgbClr val="2B3990"/>
                </a:solidFill>
              </a:rPr>
              <a:t>которая возвращает </a:t>
            </a:r>
            <a:r>
              <a:rPr b="1" lang="cs" sz="1600">
                <a:solidFill>
                  <a:srgbClr val="2B3990"/>
                </a:solidFill>
              </a:rPr>
              <a:t>НОВЫЙ </a:t>
            </a:r>
            <a:r>
              <a:rPr lang="cs" sz="1600">
                <a:solidFill>
                  <a:srgbClr val="2B3990"/>
                </a:solidFill>
              </a:rPr>
              <a:t>объект, содержащий свойства обоих: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38761D"/>
                </a:solidFill>
              </a:rPr>
              <a:t>merge({a:1}, {b:2}) → {a:1, b:2}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10. </a:t>
            </a:r>
            <a:r>
              <a:rPr lang="cs" sz="1600">
                <a:solidFill>
                  <a:srgbClr val="2B3990"/>
                </a:solidFill>
              </a:rPr>
              <a:t>Есть массив: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const users = [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"Alex", online: true },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"Maria", online: false },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{ name: "Oleg", online: true }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];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Напиши функцию </a:t>
            </a:r>
            <a:r>
              <a:rPr b="1" lang="cs" sz="1600">
                <a:solidFill>
                  <a:srgbClr val="38761D"/>
                </a:solidFill>
              </a:rPr>
              <a:t>getOnlineUsers(users)</a:t>
            </a:r>
            <a:r>
              <a:rPr b="1" lang="cs" sz="1600">
                <a:solidFill>
                  <a:srgbClr val="2B3990"/>
                </a:solidFill>
              </a:rPr>
              <a:t>, </a:t>
            </a:r>
            <a:r>
              <a:rPr lang="cs" sz="1600">
                <a:solidFill>
                  <a:srgbClr val="2B3990"/>
                </a:solidFill>
              </a:rPr>
              <a:t>которая возвращает новый массив имён пользователей, которые</a:t>
            </a:r>
            <a:r>
              <a:rPr b="1" lang="cs" sz="1600">
                <a:solidFill>
                  <a:srgbClr val="2B3990"/>
                </a:solidFill>
              </a:rPr>
              <a:t> </a:t>
            </a:r>
            <a:r>
              <a:rPr b="1" lang="cs" sz="1600">
                <a:solidFill>
                  <a:srgbClr val="38761D"/>
                </a:solidFill>
              </a:rPr>
              <a:t>online.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378075"/>
            <a:ext cx="8520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внимание,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надеюсь, это было интересно!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Я готов ответить на ваши вопросы.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