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6463295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a6463295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01837e4e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b01837e4e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0600876c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b0600876c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0600876c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b0600876c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55350" y="515000"/>
            <a:ext cx="8599800" cy="444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0588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>
                <a:solidFill>
                  <a:srgbClr val="1C4587"/>
                </a:solidFill>
              </a:rPr>
              <a:t>Лекция</a:t>
            </a:r>
            <a:r>
              <a:rPr b="1" lang="cs" sz="2800">
                <a:solidFill>
                  <a:srgbClr val="1C4587"/>
                </a:solidFill>
              </a:rPr>
              <a:t> </a:t>
            </a:r>
            <a:r>
              <a:rPr b="1" lang="cs">
                <a:solidFill>
                  <a:srgbClr val="1C4587"/>
                </a:solidFill>
              </a:rPr>
              <a:t>10</a:t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500">
                <a:solidFill>
                  <a:srgbClr val="1C4587"/>
                </a:solidFill>
              </a:rPr>
              <a:t>Веб хранилище</a:t>
            </a:r>
            <a:endParaRPr b="1" sz="35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500">
                <a:solidFill>
                  <a:srgbClr val="1C4587"/>
                </a:solidFill>
              </a:rPr>
              <a:t>(web storage)</a:t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2800">
                <a:solidFill>
                  <a:srgbClr val="1C4587"/>
                </a:solidFill>
              </a:rPr>
              <a:t>лектор </a:t>
            </a:r>
            <a:r>
              <a:rPr b="1" lang="cs">
                <a:solidFill>
                  <a:srgbClr val="1C4587"/>
                </a:solidFill>
              </a:rPr>
              <a:t>Олексий Шевченко</a:t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0" y="0"/>
            <a:ext cx="9083400" cy="3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Web Storage API (application programing intarface</a:t>
            </a:r>
            <a:r>
              <a:rPr lang="cs" sz="1600">
                <a:solidFill>
                  <a:srgbClr val="2B3990"/>
                </a:solidFill>
              </a:rPr>
              <a:t> </a:t>
            </a:r>
            <a:r>
              <a:rPr b="1" lang="cs" sz="1600">
                <a:solidFill>
                  <a:srgbClr val="2B3990"/>
                </a:solidFill>
              </a:rPr>
              <a:t>или интерфейс для взаимодействия программ)</a:t>
            </a:r>
            <a:r>
              <a:rPr lang="cs" sz="1600">
                <a:solidFill>
                  <a:srgbClr val="2B3990"/>
                </a:solidFill>
              </a:rPr>
              <a:t> — это встроенный в браузер интерфейс, который позволяет веб-приложениям сохранять данные на компьютере пользователя в виде пар </a:t>
            </a:r>
            <a:r>
              <a:rPr b="1" lang="cs" sz="1600">
                <a:solidFill>
                  <a:srgbClr val="2B3990"/>
                </a:solidFill>
              </a:rPr>
              <a:t>«ключ–значение»</a:t>
            </a:r>
            <a:r>
              <a:rPr lang="cs" sz="1600">
                <a:solidFill>
                  <a:srgbClr val="2B3990"/>
                </a:solidFill>
              </a:rPr>
              <a:t>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Web Storage API </a:t>
            </a:r>
            <a:r>
              <a:rPr lang="cs" sz="1600">
                <a:solidFill>
                  <a:srgbClr val="2B3990"/>
                </a:solidFill>
              </a:rPr>
              <a:t>предоставляет два типа хранилища: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</a:t>
            </a:r>
            <a:r>
              <a:rPr b="1" lang="cs" sz="1600">
                <a:solidFill>
                  <a:srgbClr val="2B3990"/>
                </a:solidFill>
              </a:rPr>
              <a:t>- localStorage </a:t>
            </a:r>
            <a:r>
              <a:rPr lang="cs" sz="1600">
                <a:solidFill>
                  <a:srgbClr val="2B3990"/>
                </a:solidFill>
              </a:rPr>
              <a:t>— постоянное хранилище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</a:t>
            </a:r>
            <a:r>
              <a:rPr b="1" lang="cs" sz="1600">
                <a:solidFill>
                  <a:srgbClr val="2B3990"/>
                </a:solidFill>
              </a:rPr>
              <a:t>- sessionStorage</a:t>
            </a:r>
            <a:r>
              <a:rPr lang="cs" sz="1600">
                <a:solidFill>
                  <a:srgbClr val="2B3990"/>
                </a:solidFill>
              </a:rPr>
              <a:t> — временное хранилище для одной вкладки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⚠️</a:t>
            </a:r>
            <a:r>
              <a:rPr b="1" lang="cs" sz="1600">
                <a:solidFill>
                  <a:srgbClr val="2B3990"/>
                </a:solidFill>
              </a:rPr>
              <a:t>ВАЖНО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В веб-хранилище не хранятся пароли, номера банковских карт и подобная конфиденциальная информация. Если вредоносный скрипт получит доступ к веб-странице, он без проблем прочтет эти данные.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0" y="0"/>
            <a:ext cx="898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0" y="0"/>
            <a:ext cx="90522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Основные методы для работы с Web Storage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🔹 </a:t>
            </a:r>
            <a:r>
              <a:rPr b="1" lang="cs" sz="1600">
                <a:solidFill>
                  <a:srgbClr val="38761D"/>
                </a:solidFill>
              </a:rPr>
              <a:t>setItem(key, value)</a:t>
            </a:r>
            <a:r>
              <a:rPr lang="cs" sz="1600">
                <a:solidFill>
                  <a:srgbClr val="2B3990"/>
                </a:solidFill>
              </a:rPr>
              <a:t> - Создаёт новую запись в хранилище или обновляет значение, если запись с таким ключом уже существует.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localStorage.setItem("theme", "dark");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🔹</a:t>
            </a:r>
            <a:r>
              <a:rPr b="1" lang="cs" sz="1600">
                <a:solidFill>
                  <a:srgbClr val="38761D"/>
                </a:solidFill>
              </a:rPr>
              <a:t> getItem(key)</a:t>
            </a:r>
            <a:r>
              <a:rPr lang="cs" sz="1600">
                <a:solidFill>
                  <a:srgbClr val="2B3990"/>
                </a:solidFill>
              </a:rPr>
              <a:t> - Возвращает значение из хранилища по указанному ключу. Если записи с таким ключом нет — возвращает null.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localStorage.getItem("theme"); </a:t>
            </a:r>
            <a:r>
              <a:rPr b="1" lang="cs" sz="1600">
                <a:solidFill>
                  <a:srgbClr val="2B3990"/>
                </a:solidFill>
              </a:rPr>
              <a:t>// "dark"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🔹</a:t>
            </a:r>
            <a:r>
              <a:rPr b="1" lang="cs" sz="1600">
                <a:solidFill>
                  <a:srgbClr val="38761D"/>
                </a:solidFill>
              </a:rPr>
              <a:t> removeItem(key) </a:t>
            </a:r>
            <a:r>
              <a:rPr lang="cs" sz="1600">
                <a:solidFill>
                  <a:srgbClr val="2B3990"/>
                </a:solidFill>
              </a:rPr>
              <a:t>- Удаляет из хранилища запись с указанным ключом.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localStorage.removeItem("theme");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🔹 </a:t>
            </a:r>
            <a:r>
              <a:rPr b="1" lang="cs" sz="1600">
                <a:solidFill>
                  <a:srgbClr val="38761D"/>
                </a:solidFill>
              </a:rPr>
              <a:t>clear()</a:t>
            </a:r>
            <a:r>
              <a:rPr lang="cs" sz="1600">
                <a:solidFill>
                  <a:srgbClr val="2B3990"/>
                </a:solidFill>
              </a:rPr>
              <a:t> - Полностью очищает все записи в хранилище текущего сайта.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localStorage.clear();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🔹</a:t>
            </a:r>
            <a:r>
              <a:rPr b="1" lang="cs" sz="1600">
                <a:solidFill>
                  <a:srgbClr val="38761D"/>
                </a:solidFill>
              </a:rPr>
              <a:t> length</a:t>
            </a:r>
            <a:r>
              <a:rPr lang="cs" sz="1600">
                <a:solidFill>
                  <a:srgbClr val="2B3990"/>
                </a:solidFill>
              </a:rPr>
              <a:t> - Свойство, которое возвращает количество записей в хранилище.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localStorage.length;</a:t>
            </a:r>
            <a:endParaRPr b="1" sz="16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0" y="0"/>
            <a:ext cx="89898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Что </a:t>
            </a:r>
            <a:r>
              <a:rPr b="1" lang="cs" sz="1600">
                <a:solidFill>
                  <a:srgbClr val="2B3990"/>
                </a:solidFill>
              </a:rPr>
              <a:t>касается</a:t>
            </a:r>
            <a:r>
              <a:rPr b="1" lang="cs" sz="1600">
                <a:solidFill>
                  <a:srgbClr val="2B3990"/>
                </a:solidFill>
              </a:rPr>
              <a:t> sessionStorage, API абсолютно такой же, как у localStorage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sessionStorage.setItem(key, value);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sessionStorage.getItem(key);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sessionStorage.</a:t>
            </a:r>
            <a:r>
              <a:rPr b="1" lang="cs" sz="1600">
                <a:solidFill>
                  <a:srgbClr val="38761D"/>
                </a:solidFill>
              </a:rPr>
              <a:t>removeItem</a:t>
            </a:r>
            <a:r>
              <a:rPr b="1" lang="cs" sz="1600">
                <a:solidFill>
                  <a:srgbClr val="38761D"/>
                </a:solidFill>
              </a:rPr>
              <a:t>(key);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sessionStorage.clear();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sessionStorage.length;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С точки зрения кода — никакой разницы.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⚠️ Важно помнить: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Web Storage хранит только строки. Для сохранения объектов и массивов необходимо использовать </a:t>
            </a:r>
            <a:r>
              <a:rPr b="1" lang="cs" sz="1600">
                <a:solidFill>
                  <a:srgbClr val="38761D"/>
                </a:solidFill>
              </a:rPr>
              <a:t>JSON.stringify() и JSON.parse().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8999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0" y="0"/>
            <a:ext cx="89898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Задача</a:t>
            </a:r>
            <a:r>
              <a:rPr b="1" lang="cs" sz="1600">
                <a:solidFill>
                  <a:srgbClr val="2B3990"/>
                </a:solidFill>
              </a:rPr>
              <a:t>: Список заметок с сохранением (Mini Notes App)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Условие: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-</a:t>
            </a:r>
            <a:r>
              <a:rPr b="1" lang="cs" sz="1600">
                <a:solidFill>
                  <a:srgbClr val="38761D"/>
                </a:solidFill>
              </a:rPr>
              <a:t> input</a:t>
            </a:r>
            <a:r>
              <a:rPr lang="cs" sz="1600">
                <a:solidFill>
                  <a:srgbClr val="2B3990"/>
                </a:solidFill>
              </a:rPr>
              <a:t> для текста заметки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- кнопка «</a:t>
            </a:r>
            <a:r>
              <a:rPr b="1" lang="cs" sz="1600">
                <a:solidFill>
                  <a:srgbClr val="38761D"/>
                </a:solidFill>
              </a:rPr>
              <a:t>Добавить</a:t>
            </a:r>
            <a:r>
              <a:rPr lang="cs" sz="1600">
                <a:solidFill>
                  <a:srgbClr val="2B3990"/>
                </a:solidFill>
              </a:rPr>
              <a:t>»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- список заметок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Требования: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- При добавлении заметка появляется в списке.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- Все заметки сохраняются в localStorage.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- После перезагрузки страницы заметки восстанавливаются.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- Каждую заметку можно удалить.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- localStorage хранит массив объектов, а не строки.</a:t>
            </a:r>
            <a:endParaRPr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  </a:t>
            </a:r>
            <a:endParaRPr b="1" sz="1600">
              <a:solidFill>
                <a:srgbClr val="2B399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  </a:t>
            </a:r>
            <a:r>
              <a:rPr b="1" lang="cs" sz="1600">
                <a:solidFill>
                  <a:srgbClr val="38761D"/>
                </a:solidFill>
              </a:rPr>
              <a:t>&lt;input type="text" id="noteInput" placeholder="Введите заметку"&gt;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&lt;button id="addNote"&gt;</a:t>
            </a:r>
            <a:r>
              <a:rPr b="1" lang="cs" sz="1600">
                <a:solidFill>
                  <a:srgbClr val="2B3990"/>
                </a:solidFill>
              </a:rPr>
              <a:t>Добавить</a:t>
            </a:r>
            <a:r>
              <a:rPr b="1" lang="cs" sz="1600">
                <a:solidFill>
                  <a:srgbClr val="38761D"/>
                </a:solidFill>
              </a:rPr>
              <a:t>&lt;/button&gt;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&lt;ul id="notesList"&gt;&lt;/ul&gt;</a:t>
            </a:r>
            <a:endParaRPr b="1" sz="16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378075"/>
            <a:ext cx="8520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внимание,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надеюсь, это было интересно!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Я готов ответить на ваши вопросы.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