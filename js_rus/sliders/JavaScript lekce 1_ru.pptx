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38f34295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a38f34295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38f34295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a38f34295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38f34295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a38f34295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38f96b15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a38f96b15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38f96b15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a38f96b15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38f96b15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a38f96b15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38f96b15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a38f96b15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38f96b15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a38f96b15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38f96b15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a38f96b15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38f96b15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a38f96b15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38f96b15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a38f96b15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1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Введение в JavaScript</a:t>
            </a:r>
            <a:endParaRPr b="1" sz="35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100">
                <a:solidFill>
                  <a:srgbClr val="1C4587"/>
                </a:solidFill>
              </a:rPr>
              <a:t>переменные, типы данных, арифметические операции</a:t>
            </a:r>
            <a:endParaRPr b="1" sz="31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369195"/>
            <a:ext cx="8520600" cy="1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571"/>
              <a:buFont typeface="Arial"/>
              <a:buNone/>
            </a:pPr>
            <a:r>
              <a:rPr b="1" lang="cs" sz="1750">
                <a:solidFill>
                  <a:srgbClr val="1C4587"/>
                </a:solidFill>
              </a:rPr>
              <a:t>JavaScript (JS) — </a:t>
            </a:r>
            <a:r>
              <a:rPr lang="cs" sz="1750">
                <a:solidFill>
                  <a:srgbClr val="1C4587"/>
                </a:solidFill>
              </a:rPr>
              <a:t>это язык программирования, который изначально был создан для оживления веб-страниц.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571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Сегодня это один из самых популярных языков в мире, используемый как в браузерах, так и на сервере.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555"/>
              <a:buNone/>
            </a:pPr>
            <a:r>
              <a:t/>
            </a:r>
            <a:endParaRPr b="1" sz="1620">
              <a:solidFill>
                <a:srgbClr val="1C4587"/>
              </a:solidFill>
            </a:endParaRPr>
          </a:p>
        </p:txBody>
      </p:sp>
      <p:pic>
        <p:nvPicPr>
          <p:cNvPr id="60" name="Google Shape;60;p14" title="html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0050" y="1606700"/>
            <a:ext cx="5568828" cy="344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53350" y="451381"/>
            <a:ext cx="8520600" cy="20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cs" sz="1800">
                <a:solidFill>
                  <a:srgbClr val="1C4587"/>
                </a:solidFill>
              </a:rPr>
              <a:t>Подключение JavaScript:</a:t>
            </a:r>
            <a:endParaRPr b="1" sz="18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cs" sz="1800">
                <a:solidFill>
                  <a:srgbClr val="1C4587"/>
                </a:solidFill>
              </a:rPr>
              <a:t>JavaScript активно используется вместе с HTML. Чтобы подключить скрипт к HTML-документу, необходимо использовать тег &lt;script&gt; с атрибутом src, в котором указывается путь к файлу со скриптом.</a:t>
            </a:r>
            <a:endParaRPr sz="18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b="1" sz="18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cs" sz="1800">
                <a:solidFill>
                  <a:srgbClr val="1C4587"/>
                </a:solidFill>
              </a:rPr>
              <a:t>Пример:</a:t>
            </a:r>
            <a:endParaRPr b="1" sz="18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cs" sz="1800">
                <a:solidFill>
                  <a:srgbClr val="38761D"/>
                </a:solidFill>
              </a:rPr>
              <a:t>&lt;script src="app.js"&gt;&lt;/script&gt;</a:t>
            </a:r>
            <a:endParaRPr b="1" sz="18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310450"/>
            <a:ext cx="8520600" cy="4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b="1" lang="cs" sz="1620">
                <a:solidFill>
                  <a:srgbClr val="1C4587"/>
                </a:solidFill>
              </a:rPr>
              <a:t>Переменная </a:t>
            </a:r>
            <a:r>
              <a:rPr lang="cs" sz="1620">
                <a:solidFill>
                  <a:srgbClr val="1C4587"/>
                </a:solidFill>
              </a:rPr>
              <a:t>— это именованное место в памяти, в котором хранится какое-то значение, чтобы мы могли использовать его позже.</a:t>
            </a:r>
            <a:endParaRPr sz="162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162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20">
                <a:solidFill>
                  <a:srgbClr val="1C4587"/>
                </a:solidFill>
              </a:rPr>
              <a:t>Общий формат записи:</a:t>
            </a:r>
            <a:endParaRPr b="1" sz="162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s" sz="1620">
                <a:solidFill>
                  <a:srgbClr val="1C4587"/>
                </a:solidFill>
              </a:rPr>
              <a:t>            </a:t>
            </a:r>
            <a:r>
              <a:rPr b="1" lang="cs" sz="1620">
                <a:solidFill>
                  <a:srgbClr val="38761D"/>
                </a:solidFill>
              </a:rPr>
              <a:t>&lt;ключевое_слово&gt; &lt;имя_переменной&gt; = &lt;значение&gt;</a:t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b="1" lang="cs" sz="1620">
                <a:solidFill>
                  <a:srgbClr val="38761D"/>
                </a:solidFill>
              </a:rPr>
              <a:t>let</a:t>
            </a:r>
            <a:r>
              <a:rPr lang="cs" sz="1620">
                <a:solidFill>
                  <a:srgbClr val="1C4587"/>
                </a:solidFill>
              </a:rPr>
              <a:t> - это современный способ обьявление переменной, используеться в том случаи когда значение переменной должно меняться со временем.</a:t>
            </a:r>
            <a:endParaRPr sz="162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cs" sz="1620">
                <a:solidFill>
                  <a:srgbClr val="1C4587"/>
                </a:solidFill>
              </a:rPr>
              <a:t>	</a:t>
            </a:r>
            <a:r>
              <a:rPr b="1" lang="cs" sz="1620">
                <a:solidFill>
                  <a:srgbClr val="38761D"/>
                </a:solidFill>
              </a:rPr>
              <a:t>let count = 0;</a:t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s" sz="1620">
                <a:solidFill>
                  <a:srgbClr val="38761D"/>
                </a:solidFill>
              </a:rPr>
              <a:t>        count = 1;</a:t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s" sz="1620">
                <a:solidFill>
                  <a:srgbClr val="38761D"/>
                </a:solidFill>
              </a:rPr>
              <a:t>const </a:t>
            </a:r>
            <a:r>
              <a:rPr lang="cs" sz="1620">
                <a:solidFill>
                  <a:srgbClr val="2B3990"/>
                </a:solidFill>
              </a:rPr>
              <a:t>— для значений, которые не должны изменяться, используем в том случаи, когда переменная должна хранить постоянное значен</a:t>
            </a:r>
            <a:r>
              <a:rPr lang="cs" sz="1620">
                <a:solidFill>
                  <a:srgbClr val="2B3990"/>
                </a:solidFill>
              </a:rPr>
              <a:t>ие.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s" sz="1620">
                <a:solidFill>
                  <a:srgbClr val="38761D"/>
                </a:solidFill>
              </a:rPr>
              <a:t>    </a:t>
            </a:r>
            <a:r>
              <a:rPr b="1" lang="cs" sz="1620">
                <a:solidFill>
                  <a:srgbClr val="38761D"/>
                </a:solidFill>
              </a:rPr>
              <a:t>    const pi = 3.14;</a:t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s" sz="1620">
                <a:solidFill>
                  <a:srgbClr val="38761D"/>
                </a:solidFill>
              </a:rPr>
              <a:t>        pi = 4;</a:t>
            </a:r>
            <a:r>
              <a:rPr b="1" lang="cs" sz="1620">
                <a:solidFill>
                  <a:srgbClr val="2B3990"/>
                </a:solidFill>
              </a:rPr>
              <a:t> // Ошибка — значение менять нельзя</a:t>
            </a:r>
            <a:endParaRPr b="1"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162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0" y="0"/>
            <a:ext cx="88707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Идентификатор</a:t>
            </a:r>
            <a:r>
              <a:rPr lang="cs" sz="1600">
                <a:solidFill>
                  <a:srgbClr val="2B3990"/>
                </a:solidFill>
              </a:rPr>
              <a:t> — это </a:t>
            </a:r>
            <a:r>
              <a:rPr b="1" lang="cs" sz="1600">
                <a:solidFill>
                  <a:srgbClr val="2B3990"/>
                </a:solidFill>
              </a:rPr>
              <a:t>имя переменной</a:t>
            </a:r>
            <a:r>
              <a:rPr lang="cs" sz="1600">
                <a:solidFill>
                  <a:srgbClr val="2B3990"/>
                </a:solidFill>
              </a:rPr>
              <a:t>, функции или класса. Он состоит из одного или нескольких символов и должен соответствовать следующим правилам: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Первый символ может быть: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латинской буквой a-z или A-Z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символом подчёркивания _ - 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знаком доллара $ - 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Последующие символы могут быть: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буквами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цифрами 0–9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подчёркиванием _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знаком доллара $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Идентификаторы чувствительны к регистру: </a:t>
            </a:r>
            <a:r>
              <a:rPr b="1" lang="cs" sz="1600">
                <a:solidFill>
                  <a:srgbClr val="38761D"/>
                </a:solidFill>
              </a:rPr>
              <a:t>user, User</a:t>
            </a:r>
            <a:r>
              <a:rPr lang="cs" sz="1600">
                <a:solidFill>
                  <a:srgbClr val="2B3990"/>
                </a:solidFill>
              </a:rPr>
              <a:t> и </a:t>
            </a:r>
            <a:r>
              <a:rPr b="1" lang="cs" sz="1600">
                <a:solidFill>
                  <a:srgbClr val="38761D"/>
                </a:solidFill>
              </a:rPr>
              <a:t>usEr</a:t>
            </a:r>
            <a:r>
              <a:rPr lang="cs" sz="1600">
                <a:solidFill>
                  <a:srgbClr val="38761D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— это разные переменные.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camelCase</a:t>
            </a:r>
            <a:r>
              <a:rPr lang="cs" sz="1600">
                <a:solidFill>
                  <a:srgbClr val="2B3990"/>
                </a:solidFill>
              </a:rPr>
              <a:t> — это стандарт в современном программировании: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первое слово пишется строчными буквами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каждое следующее — с заглавной буквы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    </a:t>
            </a:r>
            <a:r>
              <a:rPr b="1" lang="cs" sz="1600">
                <a:solidFill>
                  <a:srgbClr val="38761D"/>
                </a:solidFill>
              </a:rPr>
              <a:t> greetUser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    </a:t>
            </a:r>
            <a:r>
              <a:rPr b="1" lang="cs" sz="1600">
                <a:solidFill>
                  <a:srgbClr val="38761D"/>
                </a:solidFill>
              </a:rPr>
              <a:t> getUserData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0" y="0"/>
            <a:ext cx="8952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Вывод результата: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- </a:t>
            </a:r>
            <a:r>
              <a:rPr b="1" lang="cs" sz="1600">
                <a:solidFill>
                  <a:srgbClr val="38761D"/>
                </a:solidFill>
              </a:rPr>
              <a:t>console.log() </a:t>
            </a:r>
            <a:r>
              <a:rPr lang="cs" sz="1600">
                <a:solidFill>
                  <a:srgbClr val="2B3990"/>
                </a:solidFill>
              </a:rPr>
              <a:t>- выводит результат в консоль, очень удобно, не видно для пользователя, на каждом этапе выполнения кода </a:t>
            </a:r>
            <a:r>
              <a:rPr lang="cs" sz="1600">
                <a:solidFill>
                  <a:srgbClr val="2B3990"/>
                </a:solidFill>
              </a:rPr>
              <a:t>можно</a:t>
            </a:r>
            <a:r>
              <a:rPr lang="cs" sz="1600">
                <a:solidFill>
                  <a:srgbClr val="2B3990"/>
                </a:solidFill>
              </a:rPr>
              <a:t> проконтролировать результат </a:t>
            </a:r>
            <a:r>
              <a:rPr lang="cs" sz="1600">
                <a:solidFill>
                  <a:srgbClr val="2B3990"/>
                </a:solidFill>
              </a:rPr>
              <a:t>или</a:t>
            </a:r>
            <a:r>
              <a:rPr lang="cs" sz="1600">
                <a:solidFill>
                  <a:srgbClr val="2B3990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отладку</a:t>
            </a:r>
            <a:r>
              <a:rPr lang="cs" sz="1600">
                <a:solidFill>
                  <a:srgbClr val="2B3990"/>
                </a:solidFill>
              </a:rPr>
              <a:t>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- </a:t>
            </a:r>
            <a:r>
              <a:rPr b="1" lang="cs" sz="1600">
                <a:solidFill>
                  <a:srgbClr val="38761D"/>
                </a:solidFill>
              </a:rPr>
              <a:t>alert() </a:t>
            </a:r>
            <a:r>
              <a:rPr lang="cs" sz="1600">
                <a:solidFill>
                  <a:srgbClr val="2B3990"/>
                </a:solidFill>
              </a:rPr>
              <a:t>- Окно с сообщением, быстрый тест, показать сообщение пользователю, редко используется в реальных проектах;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- </a:t>
            </a:r>
            <a:r>
              <a:rPr b="1" lang="cs" sz="1600">
                <a:solidFill>
                  <a:srgbClr val="38761D"/>
                </a:solidFill>
              </a:rPr>
              <a:t>document.body.innerHTML</a:t>
            </a:r>
            <a:r>
              <a:rPr lang="cs" sz="1600">
                <a:solidFill>
                  <a:srgbClr val="2B3990"/>
                </a:solidFill>
              </a:rPr>
              <a:t> - содержимое </a:t>
            </a:r>
            <a:r>
              <a:rPr lang="cs" sz="1600">
                <a:solidFill>
                  <a:srgbClr val="2B3990"/>
                </a:solidFill>
              </a:rPr>
              <a:t>добавляется</a:t>
            </a:r>
            <a:r>
              <a:rPr lang="cs" sz="1600">
                <a:solidFill>
                  <a:srgbClr val="2B3990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непосредственно</a:t>
            </a:r>
            <a:r>
              <a:rPr lang="cs" sz="1600">
                <a:solidFill>
                  <a:srgbClr val="2B3990"/>
                </a:solidFill>
              </a:rPr>
              <a:t> в наш HTML код, соответственно меняет структуру страницы. 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/>
        </p:nvSpPr>
        <p:spPr>
          <a:xfrm>
            <a:off x="0" y="0"/>
            <a:ext cx="902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Тип данных</a:t>
            </a:r>
            <a:r>
              <a:rPr lang="cs" sz="1600">
                <a:solidFill>
                  <a:srgbClr val="2B3990"/>
                </a:solidFill>
              </a:rPr>
              <a:t> — это вид информации, которая хранится в переменной. JavaScript различает типы, чтобы понимать, что это за данные и как с ними работать.</a:t>
            </a:r>
            <a:endParaRPr sz="1600">
              <a:solidFill>
                <a:srgbClr val="2B3990"/>
              </a:solidFill>
            </a:endParaRPr>
          </a:p>
        </p:txBody>
      </p:sp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75" y="770800"/>
            <a:ext cx="7750394" cy="416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159050" y="401125"/>
            <a:ext cx="8520600" cy="162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Встроенные функции в JavaScript: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typeof() </a:t>
            </a:r>
            <a:r>
              <a:rPr lang="cs" sz="1600">
                <a:solidFill>
                  <a:srgbClr val="2B3990"/>
                </a:solidFill>
              </a:rPr>
              <a:t>- метод проверить какой тип данных использует конкретная переменная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confirm() </a:t>
            </a:r>
            <a:r>
              <a:rPr lang="cs" sz="1600">
                <a:solidFill>
                  <a:srgbClr val="2B3990"/>
                </a:solidFill>
              </a:rPr>
              <a:t>- Выводит модальное окно с сообщением и двумя кнопками: Ok и Cancel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prompt() </a:t>
            </a:r>
            <a:r>
              <a:rPr lang="cs" sz="1600">
                <a:solidFill>
                  <a:srgbClr val="2B3990"/>
                </a:solidFill>
              </a:rPr>
              <a:t>- Выводит модальное окно с полем для ввода и кнопками Ok и Cancel.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/>
        </p:nvSpPr>
        <p:spPr>
          <a:xfrm>
            <a:off x="0" y="0"/>
            <a:ext cx="89883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Практические задания: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1. Объявите переменную city и присвойте ей название вашего города.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Выведите значение на страницу с помощью </a:t>
            </a:r>
            <a:r>
              <a:rPr b="1" lang="cs" sz="1600">
                <a:solidFill>
                  <a:srgbClr val="38761D"/>
                </a:solidFill>
              </a:rPr>
              <a:t>document.body.innerHTML.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2. Объявите переменную age и присвойте ей число.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Выведите на страницу тип данных этой переменной (</a:t>
            </a:r>
            <a:r>
              <a:rPr b="1" lang="cs" sz="1600">
                <a:solidFill>
                  <a:srgbClr val="38761D"/>
                </a:solidFill>
              </a:rPr>
              <a:t>typeof</a:t>
            </a:r>
            <a:r>
              <a:rPr lang="cs" sz="1600">
                <a:solidFill>
                  <a:srgbClr val="2B3990"/>
                </a:solidFill>
              </a:rPr>
              <a:t>).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3. Попросите пользователя ввести своё имя с помощью </a:t>
            </a:r>
            <a:r>
              <a:rPr b="1" lang="cs" sz="1600">
                <a:solidFill>
                  <a:srgbClr val="38761D"/>
                </a:solidFill>
              </a:rPr>
              <a:t>prompt().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Сохраните результат в переменную </a:t>
            </a:r>
            <a:r>
              <a:rPr b="1" lang="cs" sz="1600">
                <a:solidFill>
                  <a:srgbClr val="38761D"/>
                </a:solidFill>
              </a:rPr>
              <a:t>userName</a:t>
            </a:r>
            <a:r>
              <a:rPr lang="cs" sz="1600">
                <a:solidFill>
                  <a:srgbClr val="2B3990"/>
                </a:solidFill>
              </a:rPr>
              <a:t>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Выведите на страницу: </a:t>
            </a:r>
            <a:r>
              <a:rPr b="1" lang="cs" sz="1600">
                <a:solidFill>
                  <a:srgbClr val="38761D"/>
                </a:solidFill>
              </a:rPr>
              <a:t>Привет, &lt;имя&gt;!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179999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4. Спросите у пользователя: </a:t>
            </a:r>
            <a:r>
              <a:rPr b="1" lang="cs" sz="1600">
                <a:solidFill>
                  <a:srgbClr val="38761D"/>
                </a:solidFill>
              </a:rPr>
              <a:t>«Хотите продолжить?»</a:t>
            </a:r>
            <a:r>
              <a:rPr lang="cs" sz="1600">
                <a:solidFill>
                  <a:srgbClr val="2B3990"/>
                </a:solidFill>
              </a:rPr>
              <a:t> с помощью </a:t>
            </a:r>
            <a:r>
              <a:rPr b="1" lang="cs" sz="1600">
                <a:solidFill>
                  <a:srgbClr val="38761D"/>
                </a:solidFill>
              </a:rPr>
              <a:t>confirm()</a:t>
            </a:r>
            <a:r>
              <a:rPr lang="cs" sz="1600">
                <a:solidFill>
                  <a:srgbClr val="2B3990"/>
                </a:solidFill>
              </a:rPr>
              <a:t>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Сохраните результат в переменную i</a:t>
            </a:r>
            <a:r>
              <a:rPr b="1" lang="cs" sz="1600">
                <a:solidFill>
                  <a:srgbClr val="38761D"/>
                </a:solidFill>
              </a:rPr>
              <a:t>sContinue.</a:t>
            </a:r>
            <a:endParaRPr b="1" sz="1600">
              <a:solidFill>
                <a:srgbClr val="38761D"/>
              </a:solidFill>
            </a:endParaRPr>
          </a:p>
          <a:p>
            <a:pPr indent="0" lvl="0" marL="36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Выведите на страницу: </a:t>
            </a:r>
            <a:r>
              <a:rPr b="1" lang="cs" sz="1600">
                <a:solidFill>
                  <a:srgbClr val="38761D"/>
                </a:solidFill>
              </a:rPr>
              <a:t>«Пользователь хочет продолжить:</a:t>
            </a:r>
            <a:r>
              <a:rPr b="1" lang="cs" sz="1600">
                <a:solidFill>
                  <a:srgbClr val="2B3990"/>
                </a:solidFill>
              </a:rPr>
              <a:t> &lt;результат&gt;</a:t>
            </a:r>
            <a:r>
              <a:rPr b="1" lang="cs" sz="1600">
                <a:solidFill>
                  <a:srgbClr val="38761D"/>
                </a:solidFill>
              </a:rPr>
              <a:t>»</a:t>
            </a:r>
            <a:endParaRPr b="1" sz="1600">
              <a:solidFill>
                <a:srgbClr val="38761D"/>
              </a:solidFill>
            </a:endParaRPr>
          </a:p>
          <a:p>
            <a:pPr indent="0" lvl="0" marL="36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</a:t>
            </a:r>
            <a:r>
              <a:rPr lang="cs" sz="1600">
                <a:solidFill>
                  <a:srgbClr val="2B3990"/>
                </a:solidFill>
              </a:rPr>
              <a:t>         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5. Комбинация всех действий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- Попросите пользователя ввести имя через </a:t>
            </a:r>
            <a:r>
              <a:rPr b="1" lang="cs" sz="1600">
                <a:solidFill>
                  <a:srgbClr val="38761D"/>
                </a:solidFill>
              </a:rPr>
              <a:t>prompt().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- Попросите подтвердить действие через </a:t>
            </a:r>
            <a:r>
              <a:rPr b="1" lang="cs" sz="1600">
                <a:solidFill>
                  <a:srgbClr val="38761D"/>
                </a:solidFill>
              </a:rPr>
              <a:t>confirm().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- Выведите на страницу: </a:t>
            </a:r>
            <a:r>
              <a:rPr b="1" lang="cs" sz="1600">
                <a:solidFill>
                  <a:srgbClr val="38761D"/>
                </a:solidFill>
              </a:rPr>
              <a:t>«Привет, </a:t>
            </a:r>
            <a:r>
              <a:rPr b="1" lang="cs" sz="1600">
                <a:solidFill>
                  <a:srgbClr val="2B3990"/>
                </a:solidFill>
              </a:rPr>
              <a:t>&lt;имя&gt;</a:t>
            </a:r>
            <a:r>
              <a:rPr b="1" lang="cs" sz="1600">
                <a:solidFill>
                  <a:srgbClr val="38761D"/>
                </a:solidFill>
              </a:rPr>
              <a:t>!»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                           «Результат подтвержления: »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25" y="1021400"/>
            <a:ext cx="8839202" cy="354389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2"/>
          <p:cNvSpPr txBox="1"/>
          <p:nvPr/>
        </p:nvSpPr>
        <p:spPr>
          <a:xfrm>
            <a:off x="254100" y="305325"/>
            <a:ext cx="86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Арифметические операции в JavaScript</a:t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/>
        </p:nvSpPr>
        <p:spPr>
          <a:xfrm>
            <a:off x="0" y="0"/>
            <a:ext cx="89412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Практика: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1</a:t>
            </a:r>
            <a:r>
              <a:rPr b="1" lang="cs" sz="1600">
                <a:solidFill>
                  <a:srgbClr val="2B3990"/>
                </a:solidFill>
              </a:rPr>
              <a:t>:</a:t>
            </a:r>
            <a:r>
              <a:rPr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2B3990"/>
                </a:solidFill>
              </a:rPr>
              <a:t>Создание e-mail адреса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Условие: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Напишите программу, которая создаёт строку, содержащую ваш e-mail.E-mail составьте, соединив: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 - Ваше имя, пользователь вводит с клавиатуры;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 - Символ точка 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 - Вашу фамилию, тоже пользователь вводит с клавиатуры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 - С окончанием @mujmail.com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 - Используйте оператор + для соединения строк.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 - Выведите результат на страницу через </a:t>
            </a:r>
            <a:r>
              <a:rPr b="1" lang="cs" sz="1600">
                <a:solidFill>
                  <a:srgbClr val="38761D"/>
                </a:solidFill>
              </a:rPr>
              <a:t>document.body.innerHTML</a:t>
            </a:r>
            <a:r>
              <a:rPr lang="cs" sz="1600">
                <a:solidFill>
                  <a:srgbClr val="2B3990"/>
                </a:solidFill>
              </a:rPr>
              <a:t>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2: Комбинация имени и возраста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Условие: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Пусть пользователь с клавиатуры введёт имя и возраст.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Выведите через </a:t>
            </a:r>
            <a:r>
              <a:rPr b="1" lang="cs" sz="1600">
                <a:solidFill>
                  <a:srgbClr val="38761D"/>
                </a:solidFill>
              </a:rPr>
              <a:t>document.body.innerHTML</a:t>
            </a:r>
            <a:r>
              <a:rPr lang="cs" sz="1600">
                <a:solidFill>
                  <a:srgbClr val="2B3990"/>
                </a:solidFill>
              </a:rPr>
              <a:t> на страницу строку: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</a:t>
            </a:r>
            <a:r>
              <a:rPr b="1" lang="cs" sz="1600">
                <a:solidFill>
                  <a:srgbClr val="38761D"/>
                </a:solidFill>
              </a:rPr>
              <a:t> "Привет, </a:t>
            </a:r>
            <a:r>
              <a:rPr b="1" lang="cs" sz="1600">
                <a:solidFill>
                  <a:srgbClr val="2B3990"/>
                </a:solidFill>
              </a:rPr>
              <a:t>&lt;имя&gt;</a:t>
            </a:r>
            <a:r>
              <a:rPr b="1" lang="cs" sz="1600">
                <a:solidFill>
                  <a:srgbClr val="38761D"/>
                </a:solidFill>
              </a:rPr>
              <a:t>! Тебе </a:t>
            </a:r>
            <a:r>
              <a:rPr b="1" lang="cs" sz="1600">
                <a:solidFill>
                  <a:srgbClr val="2B3990"/>
                </a:solidFill>
              </a:rPr>
              <a:t>&lt;возраст&gt;</a:t>
            </a:r>
            <a:r>
              <a:rPr b="1" lang="cs" sz="1600">
                <a:solidFill>
                  <a:srgbClr val="38761D"/>
                </a:solidFill>
              </a:rPr>
              <a:t> лет."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/>
        </p:nvSpPr>
        <p:spPr>
          <a:xfrm>
            <a:off x="0" y="0"/>
            <a:ext cx="89766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3: Простой калькулятор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Условие: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 - Пусть есть две переменные </a:t>
            </a:r>
            <a:r>
              <a:rPr b="1" lang="cs" sz="1600">
                <a:solidFill>
                  <a:srgbClr val="38761D"/>
                </a:solidFill>
              </a:rPr>
              <a:t>a</a:t>
            </a:r>
            <a:r>
              <a:rPr lang="cs" sz="1600">
                <a:solidFill>
                  <a:srgbClr val="2B3990"/>
                </a:solidFill>
              </a:rPr>
              <a:t> и </a:t>
            </a:r>
            <a:r>
              <a:rPr b="1" lang="cs" sz="1600">
                <a:solidFill>
                  <a:srgbClr val="38761D"/>
                </a:solidFill>
              </a:rPr>
              <a:t>b</a:t>
            </a:r>
            <a:r>
              <a:rPr lang="cs" sz="1600">
                <a:solidFill>
                  <a:srgbClr val="2B3990"/>
                </a:solidFill>
              </a:rPr>
              <a:t>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 - Выведите на страницу сумму, разность, произведение и частное этих чисел в виде: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     </a:t>
            </a:r>
            <a:r>
              <a:rPr b="1" lang="cs" sz="1600">
                <a:solidFill>
                  <a:srgbClr val="38761D"/>
                </a:solidFill>
              </a:rPr>
              <a:t>Сумма: ...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                Разность: ...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                Произведение: ...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                Частное: ...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4: Расчёт дневного бюджета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Условие: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У студента есть месячный бюджет 12 000 Kč.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Месяц состоит из 30 дней.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Посчитайте средний дневной бюджет.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Выведите на страницу: </a:t>
            </a:r>
            <a:r>
              <a:rPr b="1" lang="cs" sz="1600">
                <a:solidFill>
                  <a:srgbClr val="38761D"/>
                </a:solidFill>
              </a:rPr>
              <a:t>"Средний дневной бюджет:</a:t>
            </a:r>
            <a:r>
              <a:rPr b="1" lang="cs" sz="1600">
                <a:solidFill>
                  <a:srgbClr val="2B3990"/>
                </a:solidFill>
              </a:rPr>
              <a:t> &lt;результат&gt;</a:t>
            </a:r>
            <a:r>
              <a:rPr b="1" lang="cs" sz="1600">
                <a:solidFill>
                  <a:srgbClr val="38761D"/>
                </a:solidFill>
              </a:rPr>
              <a:t> Kč".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/>
        </p:nvSpPr>
        <p:spPr>
          <a:xfrm>
            <a:off x="0" y="0"/>
            <a:ext cx="89295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5: Расчёт месячного дохода и налога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Условие: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Вы работаете 7 часов в день, ставка 320 Kč/час.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В месяце 21 рабочий день.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Если вы работаете как самозанятый (OSVČ), можно вычесть 60% дохода как паушал.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На оставшиеся 40% дохода начисляется налог 15%.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Нужно вычислить размер налога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Используйте переменные, арифметические операции и вывод через </a:t>
            </a:r>
            <a:r>
              <a:rPr b="1" lang="cs" sz="1600">
                <a:solidFill>
                  <a:srgbClr val="38761D"/>
                </a:solidFill>
              </a:rPr>
              <a:t>document.body.innerHTML.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