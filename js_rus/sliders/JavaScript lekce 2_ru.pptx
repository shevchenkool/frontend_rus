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4518c767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a4518c767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4518c767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4518c767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4518c76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a4518c76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4518c76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a4518c76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518c767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a4518c767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518c767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a4518c767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4518c76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4518c76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4518c767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4518c767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2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Числа и строки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100">
                <a:solidFill>
                  <a:srgbClr val="1C4587"/>
                </a:solidFill>
              </a:rPr>
              <a:t>перевод типов данных, NaN, undefined, Math(), методы для работы со строками</a:t>
            </a:r>
            <a:endParaRPr b="1" sz="31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Number </a:t>
            </a:r>
            <a:r>
              <a:rPr lang="cs" sz="1600">
                <a:solidFill>
                  <a:srgbClr val="2B3990"/>
                </a:solidFill>
              </a:rPr>
              <a:t>- это универсальный тип </a:t>
            </a:r>
            <a:r>
              <a:rPr lang="cs" sz="1600">
                <a:solidFill>
                  <a:srgbClr val="2B3990"/>
                </a:solidFill>
              </a:rPr>
              <a:t>данных</a:t>
            </a:r>
            <a:r>
              <a:rPr lang="cs" sz="1600">
                <a:solidFill>
                  <a:srgbClr val="2B3990"/>
                </a:solidFill>
              </a:rPr>
              <a:t>, который подходит для разных типов чисел:</a:t>
            </a:r>
            <a:endParaRPr sz="1600">
              <a:solidFill>
                <a:srgbClr val="2B3990"/>
              </a:solidFill>
            </a:endParaRPr>
          </a:p>
          <a:p>
            <a:pPr indent="1439999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- целых чисел (</a:t>
            </a:r>
            <a:r>
              <a:rPr b="1" lang="cs" sz="1600">
                <a:solidFill>
                  <a:srgbClr val="2B3990"/>
                </a:solidFill>
              </a:rPr>
              <a:t>10, -5</a:t>
            </a:r>
            <a:r>
              <a:rPr lang="cs" sz="1600">
                <a:solidFill>
                  <a:srgbClr val="2B3990"/>
                </a:solidFill>
              </a:rPr>
              <a:t>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		 - дробных чисел (</a:t>
            </a:r>
            <a:r>
              <a:rPr b="1" lang="cs" sz="1600">
                <a:solidFill>
                  <a:srgbClr val="2B3990"/>
                </a:solidFill>
              </a:rPr>
              <a:t>3.14</a:t>
            </a:r>
            <a:r>
              <a:rPr lang="cs" sz="1600">
                <a:solidFill>
                  <a:srgbClr val="2B3990"/>
                </a:solidFill>
              </a:rPr>
              <a:t>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		 - специальных значений (</a:t>
            </a:r>
            <a:r>
              <a:rPr b="1" lang="cs" sz="1600">
                <a:solidFill>
                  <a:srgbClr val="2B3990"/>
                </a:solidFill>
              </a:rPr>
              <a:t>Infinity, NaN</a:t>
            </a:r>
            <a:r>
              <a:rPr lang="cs" sz="1600">
                <a:solidFill>
                  <a:srgbClr val="2B3990"/>
                </a:solidFill>
              </a:rPr>
              <a:t>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Любое число в JavaScript с помощью стандарта</a:t>
            </a:r>
            <a:r>
              <a:rPr b="1" lang="cs" sz="1600">
                <a:solidFill>
                  <a:srgbClr val="2B3990"/>
                </a:solidFill>
              </a:rPr>
              <a:t> IEEE 754</a:t>
            </a:r>
            <a:r>
              <a:rPr lang="cs" sz="1600">
                <a:solidFill>
                  <a:srgbClr val="2B3990"/>
                </a:solidFill>
              </a:rPr>
              <a:t> автоматически преобразуется к единому 64-битному формату.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</a:t>
            </a:r>
            <a:r>
              <a:rPr b="1" lang="cs" sz="1600">
                <a:solidFill>
                  <a:srgbClr val="2B3990"/>
                </a:solidFill>
              </a:rPr>
              <a:t> IEEE 754</a:t>
            </a:r>
            <a:r>
              <a:rPr lang="cs" sz="1600">
                <a:solidFill>
                  <a:srgbClr val="2B3990"/>
                </a:solidFill>
              </a:rPr>
              <a:t> — это международный стандарт, который определяет, как должно храниться число в памяти компьютера.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Что такое </a:t>
            </a:r>
            <a:r>
              <a:rPr b="1" lang="cs" sz="1600">
                <a:solidFill>
                  <a:srgbClr val="2B3990"/>
                </a:solidFill>
              </a:rPr>
              <a:t>64-бита</a:t>
            </a:r>
            <a:r>
              <a:rPr lang="cs" sz="1600">
                <a:solidFill>
                  <a:srgbClr val="2B3990"/>
                </a:solidFill>
              </a:rPr>
              <a:t> - это фиксированное количество ячеек памяти, которое JavaScript выделяет, чтобы записать одно число, включает в себя: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 1 бит - знаки</a:t>
            </a:r>
            <a:r>
              <a:rPr lang="cs" sz="1600">
                <a:solidFill>
                  <a:srgbClr val="2B3990"/>
                </a:solidFill>
              </a:rPr>
              <a:t> (+ или -);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11 бит степени</a:t>
            </a:r>
            <a:r>
              <a:rPr lang="cs" sz="1600">
                <a:solidFill>
                  <a:srgbClr val="2B3990"/>
                </a:solidFill>
              </a:rPr>
              <a:t> (эксрлнент, позволяет хранить огромные и микроскопические числа);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52 бита - мантиссы </a:t>
            </a:r>
            <a:r>
              <a:rPr lang="cs" sz="1600">
                <a:solidFill>
                  <a:srgbClr val="2B3990"/>
                </a:solidFill>
              </a:rPr>
              <a:t>(точность числа, определяет точность числа 15–17 знаков).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5525" y="77700"/>
            <a:ext cx="8730000" cy="49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Способы перевода строки в число:</a:t>
            </a:r>
            <a:endParaRPr b="1"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</a:t>
            </a:r>
            <a:r>
              <a:rPr b="1" lang="cs" sz="1750">
                <a:solidFill>
                  <a:srgbClr val="1C4587"/>
                </a:solidFill>
              </a:rPr>
              <a:t>- Number()</a:t>
            </a:r>
            <a:r>
              <a:rPr lang="cs" sz="1750">
                <a:solidFill>
                  <a:srgbClr val="1C4587"/>
                </a:solidFill>
              </a:rPr>
              <a:t> — универсальный способ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 </a:t>
            </a:r>
            <a:r>
              <a:rPr b="1" lang="cs" sz="1750">
                <a:solidFill>
                  <a:srgbClr val="38761D"/>
                </a:solidFill>
              </a:rPr>
              <a:t>let n = Number("25"); </a:t>
            </a:r>
            <a:r>
              <a:rPr lang="cs" sz="1750">
                <a:solidFill>
                  <a:srgbClr val="1C4587"/>
                </a:solidFill>
              </a:rPr>
              <a:t>      // 25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</a:t>
            </a:r>
            <a:r>
              <a:rPr b="1" lang="cs" sz="1750">
                <a:solidFill>
                  <a:srgbClr val="38761D"/>
                </a:solidFill>
              </a:rPr>
              <a:t> let x = Number("3.14"); </a:t>
            </a:r>
            <a:r>
              <a:rPr lang="cs" sz="1750">
                <a:solidFill>
                  <a:srgbClr val="1C4587"/>
                </a:solidFill>
              </a:rPr>
              <a:t>   // 3.14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 </a:t>
            </a:r>
            <a:r>
              <a:rPr b="1" lang="cs" sz="1750">
                <a:solidFill>
                  <a:srgbClr val="38761D"/>
                </a:solidFill>
              </a:rPr>
              <a:t>let bad = Number("abc");</a:t>
            </a:r>
            <a:r>
              <a:rPr lang="cs" sz="1750">
                <a:solidFill>
                  <a:srgbClr val="1C4587"/>
                </a:solidFill>
              </a:rPr>
              <a:t>  // NaN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</a:t>
            </a:r>
            <a:r>
              <a:rPr b="1" lang="cs" sz="1750">
                <a:solidFill>
                  <a:srgbClr val="1C4587"/>
                </a:solidFill>
              </a:rPr>
              <a:t>- parseInt()</a:t>
            </a:r>
            <a:r>
              <a:rPr lang="cs" sz="1750">
                <a:solidFill>
                  <a:srgbClr val="1C4587"/>
                </a:solidFill>
              </a:rPr>
              <a:t> — переводит в целое число, р</a:t>
            </a:r>
            <a:r>
              <a:rPr lang="cs" sz="1750">
                <a:solidFill>
                  <a:srgbClr val="1C4587"/>
                </a:solidFill>
              </a:rPr>
              <a:t>аботает до первого «нечислового» символа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</a:t>
            </a:r>
            <a:r>
              <a:rPr b="1" lang="cs" sz="1750">
                <a:solidFill>
                  <a:srgbClr val="38761D"/>
                </a:solidFill>
              </a:rPr>
              <a:t> parseInt("42") </a:t>
            </a:r>
            <a:r>
              <a:rPr lang="cs" sz="1750">
                <a:solidFill>
                  <a:srgbClr val="1C4587"/>
                </a:solidFill>
              </a:rPr>
              <a:t>         // 42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</a:t>
            </a:r>
            <a:r>
              <a:rPr b="1" lang="cs" sz="1750">
                <a:solidFill>
                  <a:srgbClr val="38761D"/>
                </a:solidFill>
              </a:rPr>
              <a:t> parseInt("42px")</a:t>
            </a:r>
            <a:r>
              <a:rPr lang="cs" sz="1750">
                <a:solidFill>
                  <a:srgbClr val="1C4587"/>
                </a:solidFill>
              </a:rPr>
              <a:t>        // 42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</a:t>
            </a:r>
            <a:r>
              <a:rPr b="1" lang="cs" sz="1750">
                <a:solidFill>
                  <a:srgbClr val="38761D"/>
                </a:solidFill>
              </a:rPr>
              <a:t> parseInt("3.99")  </a:t>
            </a:r>
            <a:r>
              <a:rPr lang="cs" sz="1750">
                <a:solidFill>
                  <a:srgbClr val="1C4587"/>
                </a:solidFill>
              </a:rPr>
              <a:t>      // 3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</a:t>
            </a:r>
            <a:r>
              <a:rPr b="1" lang="cs" sz="1750">
                <a:solidFill>
                  <a:srgbClr val="1C4587"/>
                </a:solidFill>
              </a:rPr>
              <a:t>- parseFloat()</a:t>
            </a:r>
            <a:r>
              <a:rPr lang="cs" sz="1750">
                <a:solidFill>
                  <a:srgbClr val="1C4587"/>
                </a:solidFill>
              </a:rPr>
              <a:t> — переводит в дробное число, </a:t>
            </a:r>
            <a:r>
              <a:rPr lang="cs" sz="1750">
                <a:solidFill>
                  <a:srgbClr val="1C4587"/>
                </a:solidFill>
              </a:rPr>
              <a:t>работает до первого «нечислового» символа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</a:t>
            </a:r>
            <a:r>
              <a:rPr b="1" lang="cs" sz="1750">
                <a:solidFill>
                  <a:srgbClr val="38761D"/>
                </a:solidFill>
              </a:rPr>
              <a:t> parseFloat("3.14")  </a:t>
            </a:r>
            <a:r>
              <a:rPr lang="cs" sz="1750">
                <a:solidFill>
                  <a:srgbClr val="1C4587"/>
                </a:solidFill>
              </a:rPr>
              <a:t>    // 3.14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 </a:t>
            </a:r>
            <a:r>
              <a:rPr b="1" lang="cs" sz="1750">
                <a:solidFill>
                  <a:srgbClr val="38761D"/>
                </a:solidFill>
              </a:rPr>
              <a:t>parseFloat("5.7cm") </a:t>
            </a:r>
            <a:r>
              <a:rPr lang="cs" sz="1750">
                <a:solidFill>
                  <a:srgbClr val="1C4587"/>
                </a:solidFill>
              </a:rPr>
              <a:t>    // 5.7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1C4587"/>
                </a:solidFill>
              </a:rPr>
              <a:t>Унарный плюс</a:t>
            </a:r>
            <a:r>
              <a:rPr lang="cs" sz="1750">
                <a:solidFill>
                  <a:srgbClr val="1C4587"/>
                </a:solidFill>
              </a:rPr>
              <a:t>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    </a:t>
            </a:r>
            <a:r>
              <a:rPr b="1" lang="cs" sz="1750">
                <a:solidFill>
                  <a:srgbClr val="38761D"/>
                </a:solidFill>
              </a:rPr>
              <a:t> let a = +"50";</a:t>
            </a:r>
            <a:r>
              <a:rPr lang="cs" sz="1750">
                <a:solidFill>
                  <a:srgbClr val="1C4587"/>
                </a:solidFill>
              </a:rPr>
              <a:t>  // 50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     </a:t>
            </a:r>
            <a:r>
              <a:rPr b="1" lang="cs" sz="1750">
                <a:solidFill>
                  <a:srgbClr val="38761D"/>
                </a:solidFill>
              </a:rPr>
              <a:t>let b = +"3.14";</a:t>
            </a:r>
            <a:r>
              <a:rPr lang="cs" sz="1750">
                <a:solidFill>
                  <a:srgbClr val="1C4587"/>
                </a:solidFill>
              </a:rPr>
              <a:t> // 3.14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        </a:t>
            </a:r>
            <a:r>
              <a:rPr b="1" lang="cs" sz="1750">
                <a:solidFill>
                  <a:srgbClr val="38761D"/>
                </a:solidFill>
              </a:rPr>
              <a:t>const value = prompt("Введите число:");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38761D"/>
                </a:solidFill>
              </a:rPr>
              <a:t>                    const number = +value;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38761D"/>
                </a:solidFill>
              </a:rPr>
              <a:t>                    let c = +"abc";</a:t>
            </a:r>
            <a:r>
              <a:rPr lang="cs" sz="1750">
                <a:solidFill>
                  <a:srgbClr val="1C4587"/>
                </a:solidFill>
              </a:rPr>
              <a:t>  // NaN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⚠️ Важно помнить</a:t>
            </a:r>
            <a:endParaRPr b="1"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Если строка не может быть интерпретирована как число — результат будет </a:t>
            </a:r>
            <a:r>
              <a:rPr b="1" lang="cs" sz="1750">
                <a:solidFill>
                  <a:srgbClr val="1C4587"/>
                </a:solidFill>
              </a:rPr>
              <a:t>NaN</a:t>
            </a:r>
            <a:r>
              <a:rPr lang="cs" sz="1750">
                <a:solidFill>
                  <a:srgbClr val="1C4587"/>
                </a:solidFill>
              </a:rPr>
              <a:t>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571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t/>
            </a:r>
            <a:endParaRPr b="1" sz="162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181798"/>
            <a:ext cx="8520600" cy="4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Math </a:t>
            </a:r>
            <a:r>
              <a:rPr lang="cs" sz="1750">
                <a:solidFill>
                  <a:srgbClr val="1C4587"/>
                </a:solidFill>
              </a:rPr>
              <a:t>— встроенный математический объект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Основные методы </a:t>
            </a:r>
            <a:r>
              <a:rPr b="1" lang="cs" sz="1750">
                <a:solidFill>
                  <a:srgbClr val="38761D"/>
                </a:solidFill>
              </a:rPr>
              <a:t>Math</a:t>
            </a:r>
            <a:r>
              <a:rPr b="1" lang="cs" sz="1750">
                <a:solidFill>
                  <a:srgbClr val="1C4587"/>
                </a:solidFill>
              </a:rPr>
              <a:t>:</a:t>
            </a:r>
            <a:endParaRPr b="1"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Math.round()</a:t>
            </a:r>
            <a:r>
              <a:rPr lang="cs" sz="1750">
                <a:solidFill>
                  <a:srgbClr val="1C4587"/>
                </a:solidFill>
              </a:rPr>
              <a:t> — округление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Math.floor(</a:t>
            </a:r>
            <a:r>
              <a:rPr lang="cs" sz="1750">
                <a:solidFill>
                  <a:srgbClr val="1C4587"/>
                </a:solidFill>
              </a:rPr>
              <a:t>) — округление вниз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Math.ceil() </a:t>
            </a:r>
            <a:r>
              <a:rPr lang="cs" sz="1750">
                <a:solidFill>
                  <a:srgbClr val="1C4587"/>
                </a:solidFill>
              </a:rPr>
              <a:t>— округление вверх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Math.random()</a:t>
            </a:r>
            <a:r>
              <a:rPr lang="cs" sz="1750">
                <a:solidFill>
                  <a:srgbClr val="1C4587"/>
                </a:solidFill>
              </a:rPr>
              <a:t> — случайное число от 0 до 1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Math.floor(Math.random() * 10) + 1;</a:t>
            </a:r>
            <a:r>
              <a:rPr lang="cs" sz="1750">
                <a:solidFill>
                  <a:srgbClr val="1C4587"/>
                </a:solidFill>
              </a:rPr>
              <a:t> - случайное число от 1 до 10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Math.floor(Math.random() * (max - min + 1)) + min</a:t>
            </a:r>
            <a:r>
              <a:rPr lang="cs" sz="1750">
                <a:solidFill>
                  <a:srgbClr val="1C4587"/>
                </a:solidFill>
              </a:rPr>
              <a:t> - формула для получения рандомного числа в разных диапозонах, где max - это верхняя граница, min - нижняя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Math.max() / Math.min()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Math.pow()</a:t>
            </a:r>
            <a:r>
              <a:rPr lang="cs" sz="1750">
                <a:solidFill>
                  <a:srgbClr val="1C4587"/>
                </a:solidFill>
              </a:rPr>
              <a:t> — степень. Современная замена — оператор **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b="1" sz="162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38825" y="192188"/>
            <a:ext cx="85206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NaN — Not a Number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  NaN означает, что операция не может выдать корректное числовое значение.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Особенности NaN: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❗ NaN не равен НИЧЕМУ, даже самому себе: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console.log(NaN === NaN);</a:t>
            </a:r>
            <a:r>
              <a:rPr lang="cs" sz="1620"/>
              <a:t> </a:t>
            </a:r>
            <a:r>
              <a:rPr lang="cs" sz="1620">
                <a:solidFill>
                  <a:srgbClr val="2B3990"/>
                </a:solidFill>
              </a:rPr>
              <a:t>// false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Проверка правильным способом: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Number.isNaN(value)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let value = "aas";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console.log(Number.isNaN(value));</a:t>
            </a:r>
            <a:r>
              <a:rPr lang="cs" sz="1620"/>
              <a:t> </a:t>
            </a:r>
            <a:r>
              <a:rPr lang="cs" sz="1620">
                <a:solidFill>
                  <a:srgbClr val="2B3990"/>
                </a:solidFill>
              </a:rPr>
              <a:t>// false - потому, что это проверка проверяет на число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undefined </a:t>
            </a:r>
            <a:r>
              <a:rPr lang="cs" sz="1620"/>
              <a:t>— </a:t>
            </a:r>
            <a:r>
              <a:rPr lang="cs" sz="1620">
                <a:solidFill>
                  <a:srgbClr val="2B3990"/>
                </a:solidFill>
              </a:rPr>
              <a:t>это специальное значение в JavaScript, которое означает: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  «Переменная существует, но значение ей не присвоено»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/>
              <a:t>    </a:t>
            </a:r>
            <a:r>
              <a:rPr b="1" lang="cs" sz="1620">
                <a:solidFill>
                  <a:srgbClr val="38761D"/>
                </a:solidFill>
              </a:rPr>
              <a:t>let a;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    console.log(a)</a:t>
            </a:r>
            <a:r>
              <a:rPr lang="cs" sz="1620"/>
              <a:t>; </a:t>
            </a:r>
            <a:r>
              <a:rPr lang="cs" sz="1620">
                <a:solidFill>
                  <a:srgbClr val="2B3990"/>
                </a:solidFill>
              </a:rPr>
              <a:t>// undefined</a:t>
            </a:r>
            <a:endParaRPr b="1" sz="162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FF0000"/>
                </a:solidFill>
              </a:rPr>
              <a:t>    Важно: undefined ≠ null</a:t>
            </a:r>
            <a:endParaRPr b="1" sz="162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49225" y="242851"/>
            <a:ext cx="8520600" cy="49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Строка</a:t>
            </a:r>
            <a:r>
              <a:rPr lang="cs" sz="1620">
                <a:solidFill>
                  <a:srgbClr val="2B3990"/>
                </a:solidFill>
              </a:rPr>
              <a:t> — </a:t>
            </a:r>
            <a:r>
              <a:rPr lang="cs" sz="1620">
                <a:solidFill>
                  <a:srgbClr val="2B3990"/>
                </a:solidFill>
              </a:rPr>
              <a:t>индексированный</a:t>
            </a:r>
            <a:r>
              <a:rPr lang="cs" sz="1620">
                <a:solidFill>
                  <a:srgbClr val="2B3990"/>
                </a:solidFill>
              </a:rPr>
              <a:t> и последовательный набор символов начиная с нуля, который </a:t>
            </a:r>
            <a:r>
              <a:rPr lang="cs" sz="1620">
                <a:solidFill>
                  <a:srgbClr val="2B3990"/>
                </a:solidFill>
              </a:rPr>
              <a:t>записывается</a:t>
            </a:r>
            <a:r>
              <a:rPr lang="cs" sz="1620">
                <a:solidFill>
                  <a:srgbClr val="2B3990"/>
                </a:solidFill>
              </a:rPr>
              <a:t> в одинарные, двойные или обратные кавычки: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     </a:t>
            </a:r>
            <a:r>
              <a:rPr b="1" lang="cs" sz="1620">
                <a:solidFill>
                  <a:srgbClr val="38761D"/>
                </a:solidFill>
              </a:rPr>
              <a:t> "Hello"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        'Привет'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s" sz="1620">
                <a:solidFill>
                  <a:srgbClr val="38761D"/>
                </a:solidFill>
              </a:rPr>
              <a:t>        `Шаблонная строка`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s" sz="1620">
                <a:solidFill>
                  <a:srgbClr val="2B3990"/>
                </a:solidFill>
              </a:rPr>
              <a:t>Каждый символ строки имеет свой символ:</a:t>
            </a:r>
            <a:endParaRPr b="1" sz="1620">
              <a:solidFill>
                <a:srgbClr val="2B399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20">
                <a:solidFill>
                  <a:srgbClr val="38761D"/>
                </a:solidFill>
              </a:rPr>
              <a:t>J a v a S c r i p t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2B3990"/>
                </a:solidFill>
              </a:rPr>
              <a:t>       </a:t>
            </a:r>
            <a:r>
              <a:rPr b="1" lang="cs" sz="1620">
                <a:solidFill>
                  <a:srgbClr val="CC0000"/>
                </a:solidFill>
              </a:rPr>
              <a:t> 0 1 2 3 4 5 6 78 9</a:t>
            </a:r>
            <a:endParaRPr b="1" sz="162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2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2B3990"/>
                </a:solidFill>
              </a:rPr>
              <a:t>Таким образом мы можем получить символ по индексу. Нумерация начинаеться с нуля: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2B3990"/>
                </a:solidFill>
              </a:rPr>
              <a:t>        </a:t>
            </a:r>
            <a:r>
              <a:rPr b="1" lang="cs" sz="1620">
                <a:solidFill>
                  <a:srgbClr val="38761D"/>
                </a:solidFill>
              </a:rPr>
              <a:t>console.log("JavaScript"[2]);</a:t>
            </a:r>
            <a:r>
              <a:rPr b="1" lang="cs" sz="1620">
                <a:solidFill>
                  <a:srgbClr val="2B3990"/>
                </a:solidFill>
              </a:rPr>
              <a:t> // v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2B3990"/>
                </a:solidFill>
              </a:rPr>
              <a:t>Строки неизменяемы → символы нельзя менять: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2B3990"/>
                </a:solidFill>
              </a:rPr>
              <a:t>        </a:t>
            </a:r>
            <a:r>
              <a:rPr b="1" lang="cs" sz="1620">
                <a:solidFill>
                  <a:srgbClr val="38761D"/>
                </a:solidFill>
              </a:rPr>
              <a:t>let s = "Hi";</a:t>
            </a:r>
            <a:endParaRPr b="1" sz="162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1620">
                <a:solidFill>
                  <a:srgbClr val="38761D"/>
                </a:solidFill>
              </a:rPr>
              <a:t>        s[0] = "h"; </a:t>
            </a:r>
            <a:r>
              <a:rPr b="1" lang="cs" sz="1620">
                <a:solidFill>
                  <a:srgbClr val="2B3990"/>
                </a:solidFill>
              </a:rPr>
              <a:t>// не работает!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162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207575" y="106489"/>
            <a:ext cx="8520600" cy="4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400">
                <a:solidFill>
                  <a:srgbClr val="1C4587"/>
                </a:solidFill>
              </a:rPr>
              <a:t>Основные свойства и методы для работы со строками:</a:t>
            </a:r>
            <a:endParaRPr b="1" sz="1400">
              <a:solidFill>
                <a:srgbClr val="1C4587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400"/>
              <a:buChar char="-"/>
            </a:pPr>
            <a:r>
              <a:rPr lang="cs" sz="1400">
                <a:solidFill>
                  <a:srgbClr val="1C4587"/>
                </a:solidFill>
              </a:rPr>
              <a:t>Длина строки </a:t>
            </a:r>
            <a:r>
              <a:rPr b="1" lang="cs" sz="1400">
                <a:solidFill>
                  <a:srgbClr val="38761D"/>
                </a:solidFill>
              </a:rPr>
              <a:t>"Hello".length;</a:t>
            </a:r>
            <a:r>
              <a:rPr lang="cs" sz="1400">
                <a:solidFill>
                  <a:srgbClr val="1C4587"/>
                </a:solidFill>
              </a:rPr>
              <a:t>  // </a:t>
            </a:r>
            <a:endParaRPr sz="1400">
              <a:solidFill>
                <a:srgbClr val="1C4587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400"/>
              <a:buChar char="-"/>
            </a:pPr>
            <a:r>
              <a:rPr b="1" lang="cs" sz="1400">
                <a:solidFill>
                  <a:srgbClr val="1C4587"/>
                </a:solidFill>
              </a:rPr>
              <a:t>toUpperCase / toLowerCase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</a:t>
            </a:r>
            <a:r>
              <a:rPr b="1" lang="cs" sz="1400">
                <a:solidFill>
                  <a:srgbClr val="38761D"/>
                </a:solidFill>
              </a:rPr>
              <a:t> "alex".toUpperCase(); </a:t>
            </a:r>
            <a:r>
              <a:rPr lang="cs" sz="1400">
                <a:solidFill>
                  <a:srgbClr val="1C4587"/>
                </a:solidFill>
              </a:rPr>
              <a:t>// "ALEX"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</a:t>
            </a:r>
            <a:r>
              <a:rPr b="1" lang="cs" sz="1400">
                <a:solidFill>
                  <a:srgbClr val="38761D"/>
                </a:solidFill>
              </a:rPr>
              <a:t> "HELLO".toLowerCase();</a:t>
            </a:r>
            <a:r>
              <a:rPr lang="cs" sz="1400">
                <a:solidFill>
                  <a:srgbClr val="1C4587"/>
                </a:solidFill>
              </a:rPr>
              <a:t> // "hello"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- </a:t>
            </a:r>
            <a:r>
              <a:rPr b="1" lang="cs" sz="1400">
                <a:solidFill>
                  <a:srgbClr val="1C4587"/>
                </a:solidFill>
              </a:rPr>
              <a:t>indexOf — поиск подстроки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</a:t>
            </a:r>
            <a:r>
              <a:rPr b="1" lang="cs" sz="1400">
                <a:solidFill>
                  <a:srgbClr val="38761D"/>
                </a:solidFill>
              </a:rPr>
              <a:t> "Hello world".indexOf("world");</a:t>
            </a:r>
            <a:r>
              <a:rPr lang="cs" sz="1400">
                <a:solidFill>
                  <a:srgbClr val="1C4587"/>
                </a:solidFill>
              </a:rPr>
              <a:t> // 6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</a:t>
            </a:r>
            <a:r>
              <a:rPr b="1" lang="cs" sz="1400">
                <a:solidFill>
                  <a:srgbClr val="38761D"/>
                </a:solidFill>
              </a:rPr>
              <a:t> "Hello".indexOf("abc");</a:t>
            </a:r>
            <a:r>
              <a:rPr lang="cs" sz="1400">
                <a:solidFill>
                  <a:srgbClr val="1C4587"/>
                </a:solidFill>
              </a:rPr>
              <a:t> // -1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</a:t>
            </a:r>
            <a:r>
              <a:rPr b="1" lang="cs" sz="1400">
                <a:solidFill>
                  <a:srgbClr val="1C4587"/>
                </a:solidFill>
              </a:rPr>
              <a:t>- includes — проверка наличия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 </a:t>
            </a:r>
            <a:r>
              <a:rPr lang="cs" sz="1400">
                <a:solidFill>
                  <a:srgbClr val="38761D"/>
                </a:solidFill>
              </a:rPr>
              <a:t>"JavaScript".includes("Script");</a:t>
            </a:r>
            <a:r>
              <a:rPr lang="cs" sz="1400">
                <a:solidFill>
                  <a:srgbClr val="1C4587"/>
                </a:solidFill>
              </a:rPr>
              <a:t> // true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</a:t>
            </a:r>
            <a:r>
              <a:rPr b="1" lang="cs" sz="1400">
                <a:solidFill>
                  <a:srgbClr val="1C4587"/>
                </a:solidFill>
              </a:rPr>
              <a:t> - trim — удаляет пробелы по краям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</a:t>
            </a:r>
            <a:r>
              <a:rPr b="1" lang="cs" sz="1400">
                <a:solidFill>
                  <a:srgbClr val="38761D"/>
                </a:solidFill>
              </a:rPr>
              <a:t> "   Alex   ".trim();</a:t>
            </a:r>
            <a:r>
              <a:rPr lang="cs" sz="1400">
                <a:solidFill>
                  <a:srgbClr val="1C4587"/>
                </a:solidFill>
              </a:rPr>
              <a:t> // "Alex"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</a:t>
            </a:r>
            <a:r>
              <a:rPr b="1" lang="cs" sz="1400">
                <a:solidFill>
                  <a:srgbClr val="1C4587"/>
                </a:solidFill>
              </a:rPr>
              <a:t>- slice — извлечение части строки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 </a:t>
            </a:r>
            <a:r>
              <a:rPr b="1" lang="cs" sz="1400">
                <a:solidFill>
                  <a:srgbClr val="38761D"/>
                </a:solidFill>
              </a:rPr>
              <a:t>"JavaScript".slice(0, 4);</a:t>
            </a:r>
            <a:r>
              <a:rPr lang="cs" sz="1400">
                <a:solidFill>
                  <a:srgbClr val="1C4587"/>
                </a:solidFill>
              </a:rPr>
              <a:t> // "Java"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</a:t>
            </a:r>
            <a:r>
              <a:rPr b="1" lang="cs" sz="1400">
                <a:solidFill>
                  <a:srgbClr val="38761D"/>
                </a:solidFill>
              </a:rPr>
              <a:t> "JavaScript".slice(4); </a:t>
            </a:r>
            <a:r>
              <a:rPr lang="cs" sz="1400">
                <a:solidFill>
                  <a:srgbClr val="1C4587"/>
                </a:solidFill>
              </a:rPr>
              <a:t>   // "Script"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</a:t>
            </a:r>
            <a:r>
              <a:rPr b="1" lang="cs" sz="1400">
                <a:solidFill>
                  <a:srgbClr val="1C4587"/>
                </a:solidFill>
              </a:rPr>
              <a:t>- replace - перезаписывает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</a:t>
            </a:r>
            <a:r>
              <a:rPr b="1" lang="cs" sz="1400">
                <a:solidFill>
                  <a:srgbClr val="38761D"/>
                </a:solidFill>
              </a:rPr>
              <a:t> "Hello world".replace("world", "JS");</a:t>
            </a:r>
            <a:r>
              <a:rPr lang="cs" sz="1400">
                <a:solidFill>
                  <a:srgbClr val="1C4587"/>
                </a:solidFill>
              </a:rPr>
              <a:t> // "Hello JS"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</a:t>
            </a:r>
            <a:r>
              <a:rPr b="1" lang="cs" sz="1400">
                <a:solidFill>
                  <a:srgbClr val="1C4587"/>
                </a:solidFill>
              </a:rPr>
              <a:t>- repeat - делает повторы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</a:t>
            </a:r>
            <a:r>
              <a:rPr b="1" lang="cs" sz="1400">
                <a:solidFill>
                  <a:srgbClr val="38761D"/>
                </a:solidFill>
              </a:rPr>
              <a:t> "Ha".repeat(3);</a:t>
            </a:r>
            <a:r>
              <a:rPr lang="cs" sz="1400">
                <a:solidFill>
                  <a:srgbClr val="1C4587"/>
                </a:solidFill>
              </a:rPr>
              <a:t> // "HaHaHa"</a:t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</a:t>
            </a:r>
            <a:r>
              <a:rPr b="1" lang="cs" sz="1400">
                <a:solidFill>
                  <a:srgbClr val="1C4587"/>
                </a:solidFill>
              </a:rPr>
              <a:t> - Шаблонные строки и интерполяция. Используются обратные кавычки:</a:t>
            </a:r>
            <a:endParaRPr b="1" sz="1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400">
                <a:solidFill>
                  <a:srgbClr val="1C4587"/>
                </a:solidFill>
              </a:rPr>
              <a:t>        </a:t>
            </a:r>
            <a:r>
              <a:rPr b="1" lang="cs" sz="1400">
                <a:solidFill>
                  <a:srgbClr val="38761D"/>
                </a:solidFill>
              </a:rPr>
              <a:t>let name = "Alex";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400">
                <a:solidFill>
                  <a:srgbClr val="38761D"/>
                </a:solidFill>
              </a:rPr>
              <a:t>        console.log(`Привет, ${name}!`);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b="1" sz="140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86775" y="171389"/>
            <a:ext cx="8520600" cy="49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Практические задания</a:t>
            </a:r>
            <a:endParaRPr b="1"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Задача 1: </a:t>
            </a:r>
            <a:r>
              <a:rPr lang="cs" sz="1620">
                <a:solidFill>
                  <a:srgbClr val="2B3990"/>
                </a:solidFill>
              </a:rPr>
              <a:t>Форматировщик даты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Создайте страницу, которая спросит у пользователя день, месяц и год, и выведет на страницу дату в красивом формате.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Используйте шаблонную строку.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Задача 2: </a:t>
            </a:r>
            <a:r>
              <a:rPr lang="cs" sz="1620">
                <a:solidFill>
                  <a:srgbClr val="2B3990"/>
                </a:solidFill>
              </a:rPr>
              <a:t>Перевод температуры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Попросите пользователя ввести температуру в градусах Цельсия.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Переведите в Фаренгейты: F = C * 1.8 + 32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и наоборот: С = (5 * (F - 32)) / 9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Выведите результат на страницу.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cs" sz="1620">
                <a:solidFill>
                  <a:srgbClr val="2B3990"/>
                </a:solidFill>
              </a:rPr>
              <a:t>Задача 3:</a:t>
            </a:r>
            <a:r>
              <a:rPr lang="cs" sz="1620">
                <a:solidFill>
                  <a:srgbClr val="2B3990"/>
                </a:solidFill>
              </a:rPr>
              <a:t> Округления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Пусть есть число 3.67892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Выведите: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- округление вниз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- вверх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- обычное</a:t>
            </a:r>
            <a:endParaRPr sz="162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cs" sz="1620">
                <a:solidFill>
                  <a:srgbClr val="2B3990"/>
                </a:solidFill>
              </a:rPr>
              <a:t>  - до двух знаков после запятой</a:t>
            </a:r>
            <a:endParaRPr sz="16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76350" y="171395"/>
            <a:ext cx="85206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Задача 4: </a:t>
            </a:r>
            <a:r>
              <a:rPr lang="cs" sz="1750">
                <a:solidFill>
                  <a:srgbClr val="1C4587"/>
                </a:solidFill>
              </a:rPr>
              <a:t>Генератор случайного числа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Выведите случайное число от 1 до 100.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Подсказка: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38761D"/>
                </a:solidFill>
              </a:rPr>
              <a:t>Math.floor(Math.random() * 100) + 1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Задача 5:</a:t>
            </a:r>
            <a:r>
              <a:rPr lang="cs" sz="1750">
                <a:solidFill>
                  <a:srgbClr val="1C4587"/>
                </a:solidFill>
              </a:rPr>
              <a:t> Проверка на число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Пользователь вводит что-то через</a:t>
            </a:r>
            <a:r>
              <a:rPr b="1" lang="cs" sz="1750">
                <a:solidFill>
                  <a:srgbClr val="38761D"/>
                </a:solidFill>
              </a:rPr>
              <a:t> prompt.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Определите: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- можно ли перевести в число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- является ли результат </a:t>
            </a:r>
            <a:r>
              <a:rPr b="1" lang="cs" sz="1750">
                <a:solidFill>
                  <a:srgbClr val="38761D"/>
                </a:solidFill>
              </a:rPr>
              <a:t>NaN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- Выведите соответствующее сообщение.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Задача 6:</a:t>
            </a:r>
            <a:r>
              <a:rPr lang="cs" sz="1750">
                <a:solidFill>
                  <a:srgbClr val="1C4587"/>
                </a:solidFill>
              </a:rPr>
              <a:t> Работа со строками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Пусть у вас есть строка: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38761D"/>
                </a:solidFill>
              </a:rPr>
              <a:t>const str = "JavaScript is awesome";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Выполните: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выведите длину строки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выведите слово "JavaScript" из строки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замените "awesome" на "cool"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сделайте всю строку в верхнем регистре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571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t/>
            </a:r>
            <a:endParaRPr b="1" sz="162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207600" y="119339"/>
            <a:ext cx="8520600" cy="48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Задача 7: </a:t>
            </a:r>
            <a:r>
              <a:rPr lang="cs" sz="1750">
                <a:solidFill>
                  <a:srgbClr val="1C4587"/>
                </a:solidFill>
              </a:rPr>
              <a:t>Создание логина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Пользователь вводит: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имя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фамилию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Сформируйте логин формата: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</a:t>
            </a:r>
            <a:r>
              <a:rPr b="1" lang="cs" sz="1750">
                <a:solidFill>
                  <a:srgbClr val="1C4587"/>
                </a:solidFill>
              </a:rPr>
              <a:t>&lt;имя&gt;.&lt;фамилия&gt;@gmail.com</a:t>
            </a:r>
            <a:endParaRPr b="1"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Используйте: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</a:t>
            </a:r>
            <a:r>
              <a:rPr b="1" lang="cs" sz="1750">
                <a:solidFill>
                  <a:srgbClr val="38761D"/>
                </a:solidFill>
              </a:rPr>
              <a:t> trim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toLowerCase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- </a:t>
            </a:r>
            <a:r>
              <a:rPr b="1" lang="cs" sz="1750">
                <a:solidFill>
                  <a:srgbClr val="38761D"/>
                </a:solidFill>
              </a:rPr>
              <a:t>шаблонные строки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b="1" lang="cs" sz="1750">
                <a:solidFill>
                  <a:srgbClr val="1C4587"/>
                </a:solidFill>
              </a:rPr>
              <a:t>Задача 8:</a:t>
            </a:r>
            <a:r>
              <a:rPr lang="cs" sz="1750">
                <a:solidFill>
                  <a:srgbClr val="1C4587"/>
                </a:solidFill>
              </a:rPr>
              <a:t> Расчёт цены с НДС по заданной цене и количеству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Напишите программу, которая: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С помощью prompt() спросит пользователя цену за 1 штуку без НДС.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Затем спросит количество штук.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Рассчитает: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- общую цену без НДС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- сумму НДС (21 %)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        - общую цену с НДС</a:t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cs" sz="1750">
                <a:solidFill>
                  <a:srgbClr val="1C4587"/>
                </a:solidFill>
              </a:rPr>
              <a:t>    - Выведет результат с помощью </a:t>
            </a:r>
            <a:r>
              <a:rPr b="1" lang="cs" sz="1750">
                <a:solidFill>
                  <a:srgbClr val="38761D"/>
                </a:solidFill>
              </a:rPr>
              <a:t>alert().</a:t>
            </a:r>
            <a:endParaRPr b="1" sz="17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571"/>
              <a:buFont typeface="Arial"/>
              <a:buNone/>
            </a:pPr>
            <a:r>
              <a:t/>
            </a:r>
            <a:endParaRPr sz="175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t/>
            </a:r>
            <a:endParaRPr b="1" sz="162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