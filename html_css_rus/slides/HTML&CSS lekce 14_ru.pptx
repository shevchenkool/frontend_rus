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gJJtZeI21kQaS7cDng30jyq6K/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c35ca36c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9c35ca36c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e8e43e3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e8e43e3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f66e9f1a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9f66e9f1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66e9f1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9f66e9f1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8e43e35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9e8e43e35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f66e9f1a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f66e9f1a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235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14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1" lang="cs" sz="3600">
                <a:solidFill>
                  <a:srgbClr val="2B3990"/>
                </a:solidFill>
                <a:latin typeface="Roboto"/>
                <a:ea typeface="Roboto"/>
                <a:cs typeface="Roboto"/>
                <a:sym typeface="Roboto"/>
              </a:rPr>
              <a:t>Семантика, доступность и оптимизация сайта</a:t>
            </a:r>
            <a:endParaRPr b="1" sz="3600">
              <a:solidFill>
                <a:srgbClr val="2B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ct val="103703"/>
              <a:buNone/>
            </a:pPr>
            <a:r>
              <a:t/>
            </a:r>
            <a:endParaRPr b="1" sz="2700">
              <a:solidFill>
                <a:srgbClr val="2B3990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333"/>
              <a:buNone/>
            </a:pPr>
            <a:r>
              <a:t/>
            </a:r>
            <a:endParaRPr b="1" sz="3000">
              <a:solidFill>
                <a:srgbClr val="2B3990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1739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1739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c35ca36c9_0_8"/>
          <p:cNvSpPr txBox="1"/>
          <p:nvPr/>
        </p:nvSpPr>
        <p:spPr>
          <a:xfrm>
            <a:off x="89550" y="187400"/>
            <a:ext cx="89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2B39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9c35ca36c9_0_8"/>
          <p:cNvSpPr txBox="1"/>
          <p:nvPr/>
        </p:nvSpPr>
        <p:spPr>
          <a:xfrm>
            <a:off x="0" y="0"/>
            <a:ext cx="8479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Семантика в HTML</a:t>
            </a:r>
            <a:r>
              <a:rPr lang="cs" sz="1600">
                <a:solidFill>
                  <a:srgbClr val="2B3990"/>
                </a:solidFill>
              </a:rPr>
              <a:t> — это смысловое значение элементов.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S</a:t>
            </a:r>
            <a:r>
              <a:rPr b="1" lang="cs" sz="1600">
                <a:solidFill>
                  <a:srgbClr val="2B3990"/>
                </a:solidFill>
              </a:rPr>
              <a:t>creen reading</a:t>
            </a:r>
            <a:r>
              <a:rPr lang="cs" sz="1600">
                <a:solidFill>
                  <a:srgbClr val="2B3990"/>
                </a:solidFill>
              </a:rPr>
              <a:t> - это специальные программы, которые озвучивают содержимое страницы для людей с нарушением зрения или слепотой.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SEO (Search Engine Optimization)</a:t>
            </a:r>
            <a:r>
              <a:rPr lang="cs" sz="1600">
                <a:solidFill>
                  <a:srgbClr val="2B3990"/>
                </a:solidFill>
              </a:rPr>
              <a:t> — это оптимизация сайта для поисковых систем.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ARIA (Accessible Rich Internet Applications)</a:t>
            </a:r>
            <a:r>
              <a:rPr lang="cs" sz="1600">
                <a:solidFill>
                  <a:srgbClr val="2B3990"/>
                </a:solidFill>
              </a:rPr>
              <a:t> - это набор специальных атрибутов, которые помогают сделать веб-интерфейсы доступными для людей, использующих вспомогательные технологии.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39e8e43e35c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00" y="864625"/>
            <a:ext cx="8839201" cy="386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9e8e43e35c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6700" y="291708"/>
            <a:ext cx="9143999" cy="4560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f66e9f1ae_0_1"/>
          <p:cNvSpPr txBox="1"/>
          <p:nvPr/>
        </p:nvSpPr>
        <p:spPr>
          <a:xfrm>
            <a:off x="89550" y="364425"/>
            <a:ext cx="89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B39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g39f66e9f1a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450" y="591450"/>
            <a:ext cx="6776824" cy="446325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9f66e9f1ae_0_1"/>
          <p:cNvSpPr txBox="1"/>
          <p:nvPr/>
        </p:nvSpPr>
        <p:spPr>
          <a:xfrm>
            <a:off x="0" y="0"/>
            <a:ext cx="87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 Таблица самых распространённых ARIA-ролей</a:t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f66e9f1ae_0_5"/>
          <p:cNvSpPr txBox="1"/>
          <p:nvPr/>
        </p:nvSpPr>
        <p:spPr>
          <a:xfrm>
            <a:off x="89550" y="364425"/>
            <a:ext cx="89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B39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g39f66e9f1ae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675" y="318588"/>
            <a:ext cx="7813725" cy="45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e8e43e35c_0_9"/>
          <p:cNvSpPr txBox="1"/>
          <p:nvPr/>
        </p:nvSpPr>
        <p:spPr>
          <a:xfrm>
            <a:off x="89550" y="364425"/>
            <a:ext cx="8964900" cy="3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Оптимизация </a:t>
            </a:r>
            <a:r>
              <a:rPr b="1" lang="cs" sz="1600">
                <a:solidFill>
                  <a:srgbClr val="2B3990"/>
                </a:solidFill>
              </a:rPr>
              <a:t>достигается: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оптимизация изображений;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ограничение использование анимаций CSS;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минификация CSS и HTML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ссылки для минификации: 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https://kangax.github.io/html-minifier/ - Минификация HTML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https://www.toptal.com/developers/cssminifier - Минификация CSS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</a:t>
            </a:r>
            <a:endParaRPr b="1" i="0" sz="1600" u="none" cap="none" strike="noStrike">
              <a:solidFill>
                <a:srgbClr val="2B399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f66e9f1ae_0_11"/>
          <p:cNvSpPr txBox="1"/>
          <p:nvPr/>
        </p:nvSpPr>
        <p:spPr>
          <a:xfrm>
            <a:off x="89550" y="364425"/>
            <a:ext cx="896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B39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9f66e9f1ae_0_11"/>
          <p:cNvSpPr txBox="1"/>
          <p:nvPr/>
        </p:nvSpPr>
        <p:spPr>
          <a:xfrm>
            <a:off x="0" y="0"/>
            <a:ext cx="8964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Lighthouse </a:t>
            </a:r>
            <a:r>
              <a:rPr lang="cs" sz="1600">
                <a:solidFill>
                  <a:srgbClr val="2B3990"/>
                </a:solidFill>
              </a:rPr>
              <a:t>— базовая проверка производительности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Основные показатели: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- </a:t>
            </a:r>
            <a:r>
              <a:rPr b="1" lang="cs" sz="1600">
                <a:solidFill>
                  <a:srgbClr val="2B3990"/>
                </a:solidFill>
              </a:rPr>
              <a:t>Performance (скорость)</a:t>
            </a:r>
            <a:r>
              <a:rPr lang="cs" sz="1600">
                <a:solidFill>
                  <a:srgbClr val="2B3990"/>
                </a:solidFill>
              </a:rPr>
              <a:t>, проверяет: загрузка страниц, размеры ресурсов, кэширование, рендеринг, скрипты.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- </a:t>
            </a:r>
            <a:r>
              <a:rPr b="1" lang="cs" sz="1600">
                <a:solidFill>
                  <a:srgbClr val="2B3990"/>
                </a:solidFill>
              </a:rPr>
              <a:t>Accessibility (доступность)</a:t>
            </a:r>
            <a:r>
              <a:rPr lang="cs" sz="1600">
                <a:solidFill>
                  <a:srgbClr val="2B3990"/>
                </a:solidFill>
              </a:rPr>
              <a:t>, проверяет, насколько сайт удобен для людей с ограниченными возможностями, включая экранные читалки.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- </a:t>
            </a:r>
            <a:r>
              <a:rPr b="1" lang="cs" sz="1600">
                <a:solidFill>
                  <a:srgbClr val="2B3990"/>
                </a:solidFill>
              </a:rPr>
              <a:t>Best Practices</a:t>
            </a:r>
            <a:r>
              <a:rPr lang="cs" sz="1600">
                <a:solidFill>
                  <a:srgbClr val="2B3990"/>
                </a:solidFill>
              </a:rPr>
              <a:t>, проверяет современные и безопасные технологии, отсутствие ошибок и предупреждений. HTTPS, использование последних API, отсутствие deprecated функций, корректные изображения, ошибки JS.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- </a:t>
            </a:r>
            <a:r>
              <a:rPr b="1" lang="cs" sz="1600">
                <a:solidFill>
                  <a:srgbClr val="2B3990"/>
                </a:solidFill>
              </a:rPr>
              <a:t>SEO</a:t>
            </a:r>
            <a:r>
              <a:rPr lang="cs" sz="1600">
                <a:solidFill>
                  <a:srgbClr val="2B3990"/>
                </a:solidFill>
              </a:rPr>
              <a:t>, проверяет, насколько страница понятна поисковикам, заголовки, мета-теги, alt у изображений, структурированные данные, robots.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