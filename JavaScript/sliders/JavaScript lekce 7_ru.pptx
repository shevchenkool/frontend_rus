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6463295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a6463295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dfca7bd6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adfca7bd6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e13fd5b6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ae13fd5b6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acbc38cb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aacbc38cb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acbc38cb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aacbc38cb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acbc38c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aacbc38c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dfca7bd6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adfca7bd6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dfca7bd6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adfca7bd6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55350" y="515000"/>
            <a:ext cx="8599800" cy="4449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0588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>
                <a:solidFill>
                  <a:srgbClr val="1C4587"/>
                </a:solidFill>
              </a:rPr>
              <a:t>Лекция</a:t>
            </a:r>
            <a:r>
              <a:rPr b="1" lang="cs" sz="2800">
                <a:solidFill>
                  <a:srgbClr val="1C4587"/>
                </a:solidFill>
              </a:rPr>
              <a:t> </a:t>
            </a:r>
            <a:r>
              <a:rPr b="1" lang="cs">
                <a:solidFill>
                  <a:srgbClr val="1C4587"/>
                </a:solidFill>
              </a:rPr>
              <a:t>7</a:t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3500">
                <a:solidFill>
                  <a:srgbClr val="1C4587"/>
                </a:solidFill>
              </a:rPr>
              <a:t>Callback функции, методы массива </a:t>
            </a:r>
            <a:r>
              <a:rPr b="1" lang="cs" sz="3500">
                <a:solidFill>
                  <a:srgbClr val="1C4587"/>
                </a:solidFill>
              </a:rPr>
              <a:t>в JavaScript, setTimeout(), setInterval()</a:t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2800">
                <a:solidFill>
                  <a:srgbClr val="1C4587"/>
                </a:solidFill>
              </a:rPr>
              <a:t>лектор </a:t>
            </a:r>
            <a:r>
              <a:rPr b="1" lang="cs">
                <a:solidFill>
                  <a:srgbClr val="1C4587"/>
                </a:solidFill>
              </a:rPr>
              <a:t>Олексий Шевченко</a:t>
            </a:r>
            <a:endParaRPr b="1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0" y="0"/>
            <a:ext cx="89688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Callback</a:t>
            </a:r>
            <a:r>
              <a:rPr lang="cs" sz="1600">
                <a:solidFill>
                  <a:srgbClr val="2B3990"/>
                </a:solidFill>
              </a:rPr>
              <a:t> - это функция, передаваемая в другую функцию как аргумент.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</a:t>
            </a:r>
            <a:r>
              <a:rPr b="1" lang="cs" sz="1600">
                <a:solidFill>
                  <a:srgbClr val="2B3990"/>
                </a:solidFill>
              </a:rPr>
              <a:t>Они нужны: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- гибкость,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- переиспользование,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- «поведение как параметр».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Пример: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function welcome (name, </a:t>
            </a:r>
            <a:r>
              <a:rPr b="1" lang="cs" sz="1600">
                <a:solidFill>
                  <a:srgbClr val="FF0000"/>
                </a:solidFill>
              </a:rPr>
              <a:t>func2</a:t>
            </a:r>
            <a:r>
              <a:rPr b="1" lang="cs" sz="1600">
                <a:solidFill>
                  <a:srgbClr val="38761D"/>
                </a:solidFill>
              </a:rPr>
              <a:t>){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callback(name);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}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function callback(name){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console.log(`Hello ${name}`);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}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welcome("Alex", </a:t>
            </a:r>
            <a:r>
              <a:rPr b="1" lang="cs" sz="1600">
                <a:solidFill>
                  <a:srgbClr val="FF00FF"/>
                </a:solidFill>
              </a:rPr>
              <a:t>callback</a:t>
            </a:r>
            <a:r>
              <a:rPr b="1" lang="cs" sz="1600">
                <a:solidFill>
                  <a:srgbClr val="38761D"/>
                </a:solidFill>
              </a:rPr>
              <a:t>); - </a:t>
            </a:r>
            <a:r>
              <a:rPr b="1" lang="cs" sz="1600">
                <a:solidFill>
                  <a:srgbClr val="2B3990"/>
                </a:solidFill>
              </a:rPr>
              <a:t>второй параметр это ссылка на функцию</a:t>
            </a:r>
            <a:endParaRPr b="1"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0" y="0"/>
            <a:ext cx="90729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Методи массива: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38761D"/>
                </a:solidFill>
              </a:rPr>
              <a:t>forEach() </a:t>
            </a:r>
            <a:r>
              <a:rPr b="1" lang="cs" sz="1600">
                <a:solidFill>
                  <a:srgbClr val="2B3990"/>
                </a:solidFill>
              </a:rPr>
              <a:t>— </a:t>
            </a:r>
            <a:r>
              <a:rPr lang="cs" sz="1600">
                <a:solidFill>
                  <a:srgbClr val="2B3990"/>
                </a:solidFill>
              </a:rPr>
              <a:t>это метод, который перебирает каждый элемент массива и выполняет колбек-функцию для каждого элемента;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38761D"/>
                </a:solidFill>
              </a:rPr>
              <a:t>map() </a:t>
            </a:r>
            <a:r>
              <a:rPr lang="cs" sz="1600">
                <a:solidFill>
                  <a:srgbClr val="2B3990"/>
                </a:solidFill>
              </a:rPr>
              <a:t>— создаёт новый массив, преобразуя каждый элемент;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38761D"/>
                </a:solidFill>
              </a:rPr>
              <a:t>filter()</a:t>
            </a:r>
            <a:r>
              <a:rPr lang="cs" sz="1600">
                <a:solidFill>
                  <a:srgbClr val="2B3990"/>
                </a:solidFill>
              </a:rPr>
              <a:t> — используется, когда нужно отобрать элементы массива, которые удовлетворяют определённому условию;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38761D"/>
                </a:solidFill>
              </a:rPr>
              <a:t>find() </a:t>
            </a:r>
            <a:r>
              <a:rPr lang="cs" sz="1600">
                <a:solidFill>
                  <a:srgbClr val="2B3990"/>
                </a:solidFill>
              </a:rPr>
              <a:t>—</a:t>
            </a:r>
            <a:r>
              <a:rPr b="1" lang="cs" sz="1600">
                <a:solidFill>
                  <a:srgbClr val="38761D"/>
                </a:solidFill>
              </a:rPr>
              <a:t> </a:t>
            </a:r>
            <a:r>
              <a:rPr lang="cs" sz="1600">
                <a:solidFill>
                  <a:srgbClr val="2B3990"/>
                </a:solidFill>
              </a:rPr>
              <a:t>возвращает первый элемент массива, который удовлетворяет условию в колбеке;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38761D"/>
                </a:solidFill>
              </a:rPr>
              <a:t>findIndex()</a:t>
            </a:r>
            <a:r>
              <a:rPr lang="cs" sz="1600">
                <a:solidFill>
                  <a:srgbClr val="2B3990"/>
                </a:solidFill>
              </a:rPr>
              <a:t> - делает то же самое, но возвращает индекс найденного элемента;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38761D"/>
                </a:solidFill>
              </a:rPr>
              <a:t>some()</a:t>
            </a:r>
            <a:r>
              <a:rPr lang="cs" sz="1600">
                <a:solidFill>
                  <a:srgbClr val="2B3990"/>
                </a:solidFill>
              </a:rPr>
              <a:t> - проверяет, есть ли хотя бы один элемент массива, который удовлетворяет условию: </a:t>
            </a:r>
            <a:endParaRPr sz="1600">
              <a:solidFill>
                <a:srgbClr val="2B3990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- Возвращает</a:t>
            </a:r>
            <a:r>
              <a:rPr b="1" lang="cs" sz="1600">
                <a:solidFill>
                  <a:srgbClr val="38761D"/>
                </a:solidFill>
              </a:rPr>
              <a:t> true</a:t>
            </a:r>
            <a:r>
              <a:rPr lang="cs" sz="1600">
                <a:solidFill>
                  <a:srgbClr val="2B3990"/>
                </a:solidFill>
              </a:rPr>
              <a:t>, если хотя бы один элемент подходит;</a:t>
            </a:r>
            <a:endParaRPr sz="1600">
              <a:solidFill>
                <a:srgbClr val="2B3990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- Возвращает</a:t>
            </a:r>
            <a:r>
              <a:rPr b="1" lang="cs" sz="1600">
                <a:solidFill>
                  <a:srgbClr val="38761D"/>
                </a:solidFill>
              </a:rPr>
              <a:t> false</a:t>
            </a:r>
            <a:r>
              <a:rPr lang="cs" sz="1600">
                <a:solidFill>
                  <a:srgbClr val="2B3990"/>
                </a:solidFill>
              </a:rPr>
              <a:t>, если ни один элемент не подходит;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38761D"/>
                </a:solidFill>
              </a:rPr>
              <a:t>every()</a:t>
            </a:r>
            <a:r>
              <a:rPr lang="cs" sz="1600">
                <a:solidFill>
                  <a:srgbClr val="2B3990"/>
                </a:solidFill>
              </a:rPr>
              <a:t> - проверяет, все ли элементы массива удовлетворяют условию:</a:t>
            </a:r>
            <a:endParaRPr sz="1600">
              <a:solidFill>
                <a:srgbClr val="2B3990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- Возвращает </a:t>
            </a:r>
            <a:r>
              <a:rPr b="1" lang="cs" sz="1600">
                <a:solidFill>
                  <a:srgbClr val="38761D"/>
                </a:solidFill>
              </a:rPr>
              <a:t>true</a:t>
            </a:r>
            <a:r>
              <a:rPr lang="cs" sz="1600">
                <a:solidFill>
                  <a:srgbClr val="2B3990"/>
                </a:solidFill>
              </a:rPr>
              <a:t>, если каждый элемент подходит;</a:t>
            </a:r>
            <a:endParaRPr sz="1600">
              <a:solidFill>
                <a:srgbClr val="2B3990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- Возвращает </a:t>
            </a:r>
            <a:r>
              <a:rPr b="1" lang="cs" sz="1600">
                <a:solidFill>
                  <a:srgbClr val="38761D"/>
                </a:solidFill>
              </a:rPr>
              <a:t>false</a:t>
            </a:r>
            <a:r>
              <a:rPr lang="cs" sz="1600">
                <a:solidFill>
                  <a:srgbClr val="2B3990"/>
                </a:solidFill>
              </a:rPr>
              <a:t>, если хотя бы один элемент не подходит;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38761D"/>
                </a:solidFill>
              </a:rPr>
              <a:t>reduce()</a:t>
            </a:r>
            <a:r>
              <a:rPr lang="cs" sz="1600">
                <a:solidFill>
                  <a:srgbClr val="2B3990"/>
                </a:solidFill>
              </a:rPr>
              <a:t> позволяет «свернуть» массив в одно значение, применяя колбек ко всем элементам по порядку;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38761D"/>
                </a:solidFill>
              </a:rPr>
              <a:t>sort()</a:t>
            </a:r>
            <a:r>
              <a:rPr lang="cs" sz="1600">
                <a:solidFill>
                  <a:srgbClr val="2B3990"/>
                </a:solidFill>
              </a:rPr>
              <a:t> используется, чтобы отсортировать элементы массива.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0" y="41650"/>
            <a:ext cx="86670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38761D"/>
                </a:solidFill>
              </a:rPr>
              <a:t>setTimeout() и setInterval()</a:t>
            </a:r>
            <a:r>
              <a:rPr lang="cs" sz="1600">
                <a:solidFill>
                  <a:srgbClr val="2B3990"/>
                </a:solidFill>
              </a:rPr>
              <a:t> — это базовые функции работы с временем в JavaScript. Они тесно связаны с колбэками.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setTimeout()</a:t>
            </a:r>
            <a:r>
              <a:rPr lang="cs" sz="1600">
                <a:solidFill>
                  <a:srgbClr val="2B3990"/>
                </a:solidFill>
              </a:rPr>
              <a:t> - позволяет выполнить функцию один раз через заданное время (в миллисекундах).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Синтаксис</a:t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setTimeout(callback, delay, arg1, arg2, ...);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- callback </a:t>
            </a:r>
            <a:r>
              <a:rPr lang="cs" sz="1600">
                <a:solidFill>
                  <a:srgbClr val="2B3990"/>
                </a:solidFill>
              </a:rPr>
              <a:t>— функция, которая выполнится через задержку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- delay</a:t>
            </a:r>
            <a:r>
              <a:rPr lang="cs" sz="1600">
                <a:solidFill>
                  <a:srgbClr val="2B3990"/>
                </a:solidFill>
              </a:rPr>
              <a:t> — задержка в миллисекундах (1000 мс = 1 секунда)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- arg1, arg2…</a:t>
            </a:r>
            <a:r>
              <a:rPr lang="cs" sz="1600">
                <a:solidFill>
                  <a:srgbClr val="2B3990"/>
                </a:solidFill>
              </a:rPr>
              <a:t> — аргументы, которые </a:t>
            </a:r>
            <a:r>
              <a:rPr lang="cs" sz="1600">
                <a:solidFill>
                  <a:srgbClr val="2B3990"/>
                </a:solidFill>
              </a:rPr>
              <a:t>передаются</a:t>
            </a:r>
            <a:r>
              <a:rPr lang="cs" sz="1600">
                <a:solidFill>
                  <a:srgbClr val="2B3990"/>
                </a:solidFill>
              </a:rPr>
              <a:t> в callback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setInterval() - </a:t>
            </a:r>
            <a:r>
              <a:rPr lang="cs" sz="1600">
                <a:solidFill>
                  <a:srgbClr val="2B3990"/>
                </a:solidFill>
              </a:rPr>
              <a:t>выполняет функцию повторно через заданный интервал времени.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Синтаксис</a:t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const intervalId = setInterval(callback, delay, arg1, arg2, ...);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- </a:t>
            </a:r>
            <a:r>
              <a:rPr b="1" lang="cs" sz="1600">
                <a:solidFill>
                  <a:srgbClr val="38761D"/>
                </a:solidFill>
              </a:rPr>
              <a:t>callback </a:t>
            </a:r>
            <a:r>
              <a:rPr lang="cs" sz="1600">
                <a:solidFill>
                  <a:srgbClr val="2B3990"/>
                </a:solidFill>
              </a:rPr>
              <a:t>— функция, которая будет вызываться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- </a:t>
            </a:r>
            <a:r>
              <a:rPr b="1" lang="cs" sz="1600">
                <a:solidFill>
                  <a:srgbClr val="38761D"/>
                </a:solidFill>
              </a:rPr>
              <a:t>delay</a:t>
            </a:r>
            <a:r>
              <a:rPr lang="cs" sz="1600">
                <a:solidFill>
                  <a:srgbClr val="2B3990"/>
                </a:solidFill>
              </a:rPr>
              <a:t> — интервал в миллисекундах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0" y="0"/>
            <a:ext cx="88944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Задача 1 </a:t>
            </a:r>
            <a:r>
              <a:rPr lang="cs" sz="1600">
                <a:solidFill>
                  <a:srgbClr val="2B3990"/>
                </a:solidFill>
              </a:rPr>
              <a:t>— фильтр заказов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Есть массив заказов в интернет-магазине.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Нужно получить только оплаченные заказы.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</a:t>
            </a:r>
            <a:r>
              <a:rPr b="1" lang="cs" sz="1600">
                <a:solidFill>
                  <a:srgbClr val="38761D"/>
                </a:solidFill>
              </a:rPr>
              <a:t>   const orders = [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  { id: 1, status: "paid", total: 100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  { id: 2, status: "pending", total: 50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  { id: 3, status: "paid", total: 70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];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Задача 2 </a:t>
            </a:r>
            <a:r>
              <a:rPr lang="cs" sz="1600">
                <a:solidFill>
                  <a:srgbClr val="2B3990"/>
                </a:solidFill>
              </a:rPr>
              <a:t>— найти ближайшее событие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Есть массив событий с датами.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Найти событие, которое наступит первым после текущей даты.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const events = [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name: "Концерт", date: "2025-12-10"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name: "Выставка", date: "2025-12-05"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name: "Фестиваль", date: "2025-12-20" }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];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const today = "2025-12-06";</a:t>
            </a:r>
            <a:endParaRPr b="1"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83" name="Google Shape;83;p18"/>
          <p:cNvSpPr txBox="1"/>
          <p:nvPr/>
        </p:nvSpPr>
        <p:spPr>
          <a:xfrm>
            <a:off x="0" y="0"/>
            <a:ext cx="89295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Задача 3 </a:t>
            </a:r>
            <a:r>
              <a:rPr lang="cs" sz="1600">
                <a:solidFill>
                  <a:srgbClr val="2B3990"/>
                </a:solidFill>
              </a:rPr>
              <a:t>— проверить наличие товаров на складе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Есть массив товаров.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Проверить, есть ли хотя бы один товар с количеством &gt; 0.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const products = [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name: "Телефон", qty: 0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name: "Ноутбук", qty: 0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name: "Наушники", qty: 5 }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];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Задача 4</a:t>
            </a:r>
            <a:r>
              <a:rPr lang="cs" sz="1600">
                <a:solidFill>
                  <a:srgbClr val="2B3990"/>
                </a:solidFill>
              </a:rPr>
              <a:t> — все пользователи совершеннолетние?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Массив пользователей с возрастом.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Проверить, все ли старше 18 лет.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const users = [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name: "Alex", age: 20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name: "Mia", age: 17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name: "John", age: 22 }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];</a:t>
            </a:r>
            <a:endParaRPr b="1" sz="16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89" name="Google Shape;89;p19"/>
          <p:cNvSpPr txBox="1"/>
          <p:nvPr/>
        </p:nvSpPr>
        <p:spPr>
          <a:xfrm>
            <a:off x="0" y="0"/>
            <a:ext cx="89529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Задача 5</a:t>
            </a:r>
            <a:r>
              <a:rPr lang="cs" sz="1600">
                <a:solidFill>
                  <a:srgbClr val="2B3990"/>
                </a:solidFill>
              </a:rPr>
              <a:t> — подсчёт суммы покупок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Массив заказов с суммами.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Подсчитать</a:t>
            </a:r>
            <a:r>
              <a:rPr lang="cs" sz="1600">
                <a:solidFill>
                  <a:srgbClr val="2B3990"/>
                </a:solidFill>
              </a:rPr>
              <a:t> общую сумму всех заказов.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const orders = [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id: 1, total: 100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id: 2, total: 50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id: 3, total: 70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];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Задача 6 — </a:t>
            </a:r>
            <a:r>
              <a:rPr lang="cs" sz="1600">
                <a:solidFill>
                  <a:srgbClr val="2B3990"/>
                </a:solidFill>
              </a:rPr>
              <a:t>получить имена клиентов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Массив клиентов.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Получить массив только с именами.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const clients = [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id: 1, name: "Alex"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id: 2, name: "Mia"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id: 3, name: "John"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];</a:t>
            </a:r>
            <a:endParaRPr b="1" sz="16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95" name="Google Shape;95;p20"/>
          <p:cNvSpPr txBox="1"/>
          <p:nvPr/>
        </p:nvSpPr>
        <p:spPr>
          <a:xfrm>
            <a:off x="0" y="0"/>
            <a:ext cx="89649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Задача 7 — </a:t>
            </a:r>
            <a:r>
              <a:rPr lang="cs" sz="1600">
                <a:solidFill>
                  <a:srgbClr val="2B3990"/>
                </a:solidFill>
              </a:rPr>
              <a:t>Удалить пользователей младше 21 и получить массив их имён.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const users = [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name: "Alex", age: 20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name: "Mia", age: 25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name: "John", age: 30 }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];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Задача 8 — </a:t>
            </a:r>
            <a:r>
              <a:rPr lang="cs" sz="1600">
                <a:solidFill>
                  <a:srgbClr val="2B3990"/>
                </a:solidFill>
              </a:rPr>
              <a:t>обновить объект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Массив пользователей.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Поменять возраст пользователя с id = 1 на 30.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const users = [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id: 1, name: "Alex", age: 20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id: 2, name: "Mia", age: 25 }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];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101" name="Google Shape;101;p21"/>
          <p:cNvSpPr txBox="1"/>
          <p:nvPr/>
        </p:nvSpPr>
        <p:spPr>
          <a:xfrm>
            <a:off x="0" y="0"/>
            <a:ext cx="8800200" cy="52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Задача 9 —</a:t>
            </a:r>
            <a:r>
              <a:rPr lang="cs" sz="1600">
                <a:solidFill>
                  <a:srgbClr val="2B3990"/>
                </a:solidFill>
              </a:rPr>
              <a:t> сортировка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Массив товаров.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Отсортировать по цене по убыванию.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const products = [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name: "Телефон", price: 500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name: "Ноутбук", price: 1000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name: "Наушники", price: 150 }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];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Задача 10</a:t>
            </a:r>
            <a:r>
              <a:rPr lang="cs" sz="1600">
                <a:solidFill>
                  <a:srgbClr val="2B3990"/>
                </a:solidFill>
              </a:rPr>
              <a:t> — комбинированный метод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Массив студентов.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Получить имена студентов с баллом &gt; 80.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const students = [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name: "Alex", score: 90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name: "Mia", score: 75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name: "John", score: 85 }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];</a:t>
            </a:r>
            <a:endParaRPr b="1" sz="16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311700" y="378075"/>
            <a:ext cx="8520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внимание,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надеюсь, это было интересно!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Я готов ответить на ваши вопросы.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