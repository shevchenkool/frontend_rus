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2ca7123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ae2ca7123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acbc38cb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aacbc38c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cbc38cb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aacbc38cb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cbc38c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aacbc38c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cbc38c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acbc38c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e2ca7123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e2ca7123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2ca712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e2ca712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2ca712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ae2ca712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2ca7123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e2ca7123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2ca7123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ae2ca7123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2ca7123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e2ca7123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8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Document Object Model</a:t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DOM (Document Object Model, обьектная модель документа)</a:t>
            </a:r>
            <a:r>
              <a:rPr lang="cs" sz="1600">
                <a:solidFill>
                  <a:srgbClr val="2B3990"/>
                </a:solidFill>
              </a:rPr>
              <a:t> — программный объект, который представляет HTML-документ как древовидную структуру узлов (nodes). Браузер строит DOM из HTML и позволяет JS читать и менять страницу, а именно: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создавать элементы,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изменять текст,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реагировать на события.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250" y="964175"/>
            <a:ext cx="5632876" cy="40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8667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Типы узлов (nodes)</a:t>
            </a:r>
            <a:endParaRPr b="1" sz="1600">
              <a:solidFill>
                <a:srgbClr val="2B3990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Element node — элементы (&lt;div&gt;, &lt;p&gt;, &lt;input&gt;).</a:t>
            </a:r>
            <a:endParaRPr sz="1600">
              <a:solidFill>
                <a:srgbClr val="2B3990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Text node — текст внутри элемента.</a:t>
            </a:r>
            <a:endParaRPr sz="1600">
              <a:solidFill>
                <a:srgbClr val="2B3990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Comment node — &lt;!-- comment --&gt;.</a:t>
            </a:r>
            <a:endParaRPr sz="1600">
              <a:solidFill>
                <a:srgbClr val="2B3990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Document — корневой объект (document).</a:t>
            </a:r>
            <a:endParaRPr sz="1600">
              <a:solidFill>
                <a:srgbClr val="2B3990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DocumentFragment — </a:t>
            </a:r>
            <a:r>
              <a:rPr lang="cs" sz="1600">
                <a:solidFill>
                  <a:srgbClr val="2B3990"/>
                </a:solidFill>
              </a:rPr>
              <a:t>не вставляемый</a:t>
            </a:r>
            <a:r>
              <a:rPr lang="cs" sz="1600">
                <a:solidFill>
                  <a:srgbClr val="2B3990"/>
                </a:solidFill>
              </a:rPr>
              <a:t> в DOM контейнер для пакетных операций.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0" y="0"/>
            <a:ext cx="8937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Получение элементов — основные методы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getElementById(id) </a:t>
            </a:r>
            <a:r>
              <a:rPr lang="cs" sz="1600">
                <a:solidFill>
                  <a:srgbClr val="2B3990"/>
                </a:solidFill>
              </a:rPr>
              <a:t>- Быстрый, возвращает один элемент или null.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const el = document.getElementById("main");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</a:t>
            </a:r>
            <a:r>
              <a:rPr b="1" lang="cs" sz="1600">
                <a:solidFill>
                  <a:srgbClr val="188038"/>
                </a:solidFill>
              </a:rPr>
              <a:t> getElementsByClassName(name)</a:t>
            </a:r>
            <a:r>
              <a:rPr lang="cs" sz="1600">
                <a:solidFill>
                  <a:srgbClr val="2B3990"/>
                </a:solidFill>
              </a:rPr>
              <a:t> - Возвращает живую HTMLCollection (обновляется при изменении DOM).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const cols = document.getElementsByClassName("item");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getElementsByTagName(tag)</a:t>
            </a:r>
            <a:r>
              <a:rPr lang="cs" sz="1600">
                <a:solidFill>
                  <a:srgbClr val="2B3990"/>
                </a:solidFill>
              </a:rPr>
              <a:t> - Живая HTMLCollection по тегу.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querySelector(selector)</a:t>
            </a:r>
            <a:r>
              <a:rPr lang="cs" sz="1600">
                <a:solidFill>
                  <a:srgbClr val="2B3990"/>
                </a:solidFill>
              </a:rPr>
              <a:t> - Возвращает первый элемент, поддерживает CSS-селекторы.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const first = document.querySelector(".list &gt; li:first-child");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querySelectorAll(selector) </a:t>
            </a:r>
            <a:r>
              <a:rPr lang="cs" sz="1600">
                <a:solidFill>
                  <a:srgbClr val="2B3990"/>
                </a:solidFill>
              </a:rPr>
              <a:t>- Возвращает массив.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const nodes = document.querySelectorAll(".card");</a:t>
            </a:r>
            <a:endParaRPr b="1" sz="16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Схема навигации по DOM-дереву</a:t>
            </a:r>
            <a:endParaRPr b="1" sz="1600">
              <a:solidFill>
                <a:srgbClr val="2B3990"/>
              </a:solidFill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875" y="593900"/>
            <a:ext cx="7225876" cy="4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0" y="0"/>
            <a:ext cx="8937600" cy="3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Навигационное</a:t>
            </a:r>
            <a:r>
              <a:rPr b="1" lang="cs" sz="1600">
                <a:solidFill>
                  <a:srgbClr val="2B3990"/>
                </a:solidFill>
              </a:rPr>
              <a:t> свойства DOM: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elem.parentNode</a:t>
            </a:r>
            <a:r>
              <a:rPr lang="cs" sz="1600">
                <a:solidFill>
                  <a:srgbClr val="2B3990"/>
                </a:solidFill>
              </a:rPr>
              <a:t> - выберет родительский elem.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elem.childNodes</a:t>
            </a:r>
            <a:r>
              <a:rPr lang="cs" sz="1600">
                <a:solidFill>
                  <a:srgbClr val="2B3990"/>
                </a:solidFill>
              </a:rPr>
              <a:t> - </a:t>
            </a:r>
            <a:r>
              <a:rPr lang="cs" sz="1600">
                <a:solidFill>
                  <a:srgbClr val="2B3990"/>
                </a:solidFill>
              </a:rPr>
              <a:t>псевдо массив</a:t>
            </a:r>
            <a:r>
              <a:rPr lang="cs" sz="1600">
                <a:solidFill>
                  <a:srgbClr val="2B3990"/>
                </a:solidFill>
              </a:rPr>
              <a:t>, хранит все дочерние элементы, включая текстовые.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elem.children</a:t>
            </a:r>
            <a:r>
              <a:rPr lang="cs" sz="1600">
                <a:solidFill>
                  <a:srgbClr val="2B3990"/>
                </a:solidFill>
              </a:rPr>
              <a:t> - </a:t>
            </a:r>
            <a:r>
              <a:rPr lang="cs" sz="1600">
                <a:solidFill>
                  <a:srgbClr val="2B3990"/>
                </a:solidFill>
              </a:rPr>
              <a:t>псевдо массив</a:t>
            </a:r>
            <a:r>
              <a:rPr lang="cs" sz="1600">
                <a:solidFill>
                  <a:srgbClr val="2B3990"/>
                </a:solidFill>
              </a:rPr>
              <a:t>, хранит только дочерние узлы-элементы, то есть те, что соответствуют тегам.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elem.firstChild </a:t>
            </a:r>
            <a:r>
              <a:rPr lang="cs" sz="1600">
                <a:solidFill>
                  <a:srgbClr val="2B3990"/>
                </a:solidFill>
              </a:rPr>
              <a:t>- выберет первый дочерний элемент внутри elem, включая текстовые узлы.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elem.firstElementChild </a:t>
            </a:r>
            <a:r>
              <a:rPr lang="cs" sz="1600">
                <a:solidFill>
                  <a:srgbClr val="2B3990"/>
                </a:solidFill>
              </a:rPr>
              <a:t>- выберет первый дочерний узел-элемент внутри elem.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elem.lastChild</a:t>
            </a:r>
            <a:r>
              <a:rPr lang="cs" sz="1600">
                <a:solidFill>
                  <a:srgbClr val="2B3990"/>
                </a:solidFill>
              </a:rPr>
              <a:t> - выберет последний дочерний элемент внутри elem, включая текстовые узлы.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elem.lastElementChild</a:t>
            </a:r>
            <a:r>
              <a:rPr lang="cs" sz="1600">
                <a:solidFill>
                  <a:srgbClr val="2B3990"/>
                </a:solidFill>
              </a:rPr>
              <a:t> - выберет последний дочерний узел-элемент внутри elem.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elem.previousSibling</a:t>
            </a:r>
            <a:r>
              <a:rPr lang="cs" sz="1600">
                <a:solidFill>
                  <a:srgbClr val="2B3990"/>
                </a:solidFill>
              </a:rPr>
              <a:t> - выберет элемент «слева» от elem (его предыдущего соседа).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elem.previousElementSibling</a:t>
            </a:r>
            <a:r>
              <a:rPr lang="cs" sz="1600">
                <a:solidFill>
                  <a:srgbClr val="2B3990"/>
                </a:solidFill>
              </a:rPr>
              <a:t> - выберет узел-элемент «слева» от elem (его предыдущего соседа).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0" y="0"/>
            <a:ext cx="8906400" cy="4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Основные методы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Создание: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document.createElement(tag)</a:t>
            </a:r>
            <a:r>
              <a:rPr b="1" lang="cs" sz="1600">
                <a:solidFill>
                  <a:srgbClr val="188038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- создать элемент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document.createTextNode(text)</a:t>
            </a:r>
            <a:r>
              <a:rPr lang="cs" sz="1600">
                <a:solidFill>
                  <a:srgbClr val="2B3990"/>
                </a:solidFill>
              </a:rPr>
              <a:t> - создать текстовый узел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Добавление: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parent.appendChild(element)</a:t>
            </a:r>
            <a:r>
              <a:rPr lang="cs" sz="1600">
                <a:solidFill>
                  <a:srgbClr val="2B3990"/>
                </a:solidFill>
              </a:rPr>
              <a:t> - в конец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parent.append(element1, element2, ...)</a:t>
            </a:r>
            <a:r>
              <a:rPr lang="cs" sz="1600">
                <a:solidFill>
                  <a:srgbClr val="2B3990"/>
                </a:solidFill>
              </a:rPr>
              <a:t> - в конец (несколько)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parent.prepend(element</a:t>
            </a:r>
            <a:r>
              <a:rPr b="1" lang="cs" sz="1600">
                <a:solidFill>
                  <a:srgbClr val="188038"/>
                </a:solidFill>
              </a:rPr>
              <a:t>) </a:t>
            </a:r>
            <a:r>
              <a:rPr lang="cs" sz="1600">
                <a:solidFill>
                  <a:srgbClr val="2B3990"/>
                </a:solidFill>
              </a:rPr>
              <a:t>- в начало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parent.insertBefore(new, reference)</a:t>
            </a:r>
            <a:r>
              <a:rPr lang="cs" sz="1600">
                <a:solidFill>
                  <a:srgbClr val="2B3990"/>
                </a:solidFill>
              </a:rPr>
              <a:t> - перед элементом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element.before(newElement)</a:t>
            </a:r>
            <a:r>
              <a:rPr lang="cs" sz="1600">
                <a:solidFill>
                  <a:srgbClr val="2B3990"/>
                </a:solidFill>
              </a:rPr>
              <a:t> - перед (снаружи)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element.after(newElement)</a:t>
            </a:r>
            <a:r>
              <a:rPr lang="cs" sz="1600">
                <a:solidFill>
                  <a:srgbClr val="2B3990"/>
                </a:solidFill>
              </a:rPr>
              <a:t> - после (снаружи)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Удаление: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element.remove() </a:t>
            </a:r>
            <a:r>
              <a:rPr lang="cs" sz="1600">
                <a:solidFill>
                  <a:srgbClr val="2B3990"/>
                </a:solidFill>
              </a:rPr>
              <a:t>- удалить элемент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parent.removeChild(child)</a:t>
            </a:r>
            <a:r>
              <a:rPr lang="cs" sz="1600">
                <a:solidFill>
                  <a:srgbClr val="2B3990"/>
                </a:solidFill>
              </a:rPr>
              <a:t> - удалить дочерний элемент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Замена: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element.replaceWith(newElement)</a:t>
            </a:r>
            <a:r>
              <a:rPr lang="cs" sz="1600">
                <a:solidFill>
                  <a:srgbClr val="2B3990"/>
                </a:solidFill>
              </a:rPr>
              <a:t> - заменить элемент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b="1" lang="cs" sz="1600">
                <a:solidFill>
                  <a:srgbClr val="38761D"/>
                </a:solidFill>
              </a:rPr>
              <a:t>parent.replaceChild(new, old)</a:t>
            </a:r>
            <a:r>
              <a:rPr lang="cs" sz="1600">
                <a:solidFill>
                  <a:srgbClr val="2B3990"/>
                </a:solidFill>
              </a:rPr>
              <a:t> - заменить дочерний элемент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0" y="0"/>
            <a:ext cx="8667000" cy="4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1: Создать структуру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Создай через JavaScript следующую структуру и добавь в body: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&lt;div class="container"&gt;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&lt;h1&gt;Заголовок&lt;/h1&gt;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&lt;p&gt;Это параграф&lt;/p&gt;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&lt;button&gt;Кнопка&lt;/button&gt;</a:t>
            </a:r>
            <a:endParaRPr b="1" sz="1600">
              <a:solidFill>
                <a:srgbClr val="38761D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&lt;/div&gt;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2: Изменить существующие элементы</a:t>
            </a:r>
            <a:endParaRPr b="1" sz="1600">
              <a:solidFill>
                <a:srgbClr val="2B3990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&lt;div id="box" class="old"&gt;Старый текст&lt;/div&gt;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Измени через JavaScript: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lang="cs" sz="1600">
                <a:solidFill>
                  <a:srgbClr val="2B3990"/>
                </a:solidFill>
              </a:rPr>
              <a:t>Текст на "Новый текст"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lang="cs" sz="1600">
                <a:solidFill>
                  <a:srgbClr val="2B3990"/>
                </a:solidFill>
              </a:rPr>
              <a:t>Класс на "new"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lang="cs" sz="1600">
                <a:solidFill>
                  <a:srgbClr val="2B3990"/>
                </a:solidFill>
              </a:rPr>
              <a:t>Добавь атрибут data-status="active"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●"/>
            </a:pPr>
            <a:r>
              <a:rPr lang="cs" sz="1600">
                <a:solidFill>
                  <a:srgbClr val="2B3990"/>
                </a:solidFill>
              </a:rPr>
              <a:t>Измени цвет фона на "lightblue"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0" y="0"/>
            <a:ext cx="8968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3: Создать список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Создай через JavaScript ul с 5 элементами li (текст: "Элемент 1", "Элемент 2" и т.д.)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4: Добавить элементы в разные позиции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</a:t>
            </a:r>
            <a:r>
              <a:rPr b="1" lang="cs" sz="1600">
                <a:solidFill>
                  <a:srgbClr val="188038"/>
                </a:solidFill>
              </a:rPr>
              <a:t>   &lt;div id="container"&gt;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    &lt;p id="middle"&gt;Середина&lt;/p&gt;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    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Добавь через JavaScript: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Параграф "Начало" в начало container (перед middle)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Параграф "Конец" в конец container (после middle)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Заголовок h2 "Перед контейнером" перед самим container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Заголовок h2 "После контейнера" после самого container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/>
        </p:nvSpPr>
        <p:spPr>
          <a:xfrm>
            <a:off x="0" y="0"/>
            <a:ext cx="8667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Задание 5: Удаление элементов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188038"/>
                </a:solidFill>
              </a:rPr>
              <a:t>&lt;ul id="list"&gt;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&lt;li&gt;Элемент 1&lt;/li&gt;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&lt;li class="remove-me"&gt;Элемент 2&lt;/li&gt;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&lt;li&gt;Элемент 3&lt;/li&gt;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&lt;li class="remove-me"&gt;Элемент 4&lt;/li&gt;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&lt;li&gt;Элемент 5&lt;/li&gt;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&lt;/ul&gt;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Удали через JavaScript: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- Все элементы с классом "remove-me"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- Первый элемент списка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6: Замена элемента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r>
              <a:rPr b="1" lang="cs" sz="1600">
                <a:solidFill>
                  <a:srgbClr val="188038"/>
                </a:solidFill>
              </a:rPr>
              <a:t>&lt;p id="old"&gt;Старый параграф&lt;/p&gt;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Замени его через JavaScript на: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r>
              <a:rPr b="1" lang="cs" sz="1600">
                <a:solidFill>
                  <a:srgbClr val="188038"/>
                </a:solidFill>
              </a:rPr>
              <a:t>html&lt;div class="new"&gt;Новый div&lt;/div&gt;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0" y="0"/>
            <a:ext cx="89793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7:</a:t>
            </a:r>
            <a:r>
              <a:rPr lang="cs" sz="1600">
                <a:solidFill>
                  <a:srgbClr val="2B3990"/>
                </a:solidFill>
              </a:rPr>
              <a:t> Создать таблицу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Создай через JavaScript таблицу 3x3: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&lt;table&gt;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&lt;td&gt;1&lt;/td&gt;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&lt;td&gt;2&lt;/td&gt;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&lt;td&gt;3&lt;/td&gt;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&lt;/tr&gt;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&lt;td&gt;4&lt;/td&gt;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&lt;td&gt;5&lt;/td&gt;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&lt;td&gt;6&lt;/td&gt;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&lt;/tr&gt;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&lt;td&gt;7&lt;/td&gt;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&lt;td&gt;8&lt;/td&gt;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&lt;td&gt;9&lt;/td&gt;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&lt;/tr&gt;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&lt;/table&gt;</a:t>
            </a:r>
            <a:endParaRPr b="1" sz="16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/>
        </p:nvSpPr>
        <p:spPr>
          <a:xfrm>
            <a:off x="0" y="0"/>
            <a:ext cx="8667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Задание 9: Работа с классами</a:t>
            </a:r>
            <a:endParaRPr b="1" sz="1600">
              <a:solidFill>
                <a:srgbClr val="188038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        &lt;div id="box" class="red large"&gt;Box&lt;/div&gt;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Через JavaScript: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Добавь класс "active"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Удали класс "large"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Переключи класс "red" (если есть - удали, если нет - добавь)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З</a:t>
            </a:r>
            <a:r>
              <a:rPr lang="cs" sz="1600">
                <a:solidFill>
                  <a:srgbClr val="2B3990"/>
                </a:solidFill>
              </a:rPr>
              <a:t>амени класс "active" на "inactive"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Задание 10: Создать карточки товаров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Создай через JavaScript 3 карточки товаров со следующей структурой: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&lt;div class="product"&gt;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&lt;img src="product1.jpg" alt="Товар 1"&gt;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&lt;h3&gt;Товар 1&lt;/h3&gt;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&lt;p class="price"&gt;1000 крон&lt;/p&gt;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&lt;/div&gt;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Данные товаров: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Товар 1, product1.jpg, 1000 крон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Товар 2, product2.jpg, 2000 крон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Товар 3, product3.jpg, 3000 крон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0" y="0"/>
            <a:ext cx="88542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Задание 11: Навигация по DOM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&lt;div id="parent"&gt;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&lt;div class="child"&gt;Первый&lt;/div&gt;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&lt;div class="child"&gt;Второй&lt;/div&gt;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&lt;div class="child"&gt;Третий&lt;/div&gt;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188038"/>
                </a:solidFill>
              </a:rPr>
              <a:t>    &lt;/div&gt;</a:t>
            </a:r>
            <a:endParaRPr b="1" sz="16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Через JavaScript: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Получи второй дочерний элемент и измени его текст на "ВТОРОЙ"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Получи последний дочерний элемент и добавь ему класс "last"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Получи первый дочерний элемент и добавь перед ним новый div с текстом "Нулевой"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