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6463295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a6463295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6463295e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3a6463295e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7fd68706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a7fd68706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7fd68706f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3a7fd68706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7fd68706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3a7fd68706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7fd68706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a7fd68706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7fd68706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a7fd68706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7fd68706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a7fd68706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55350" y="515000"/>
            <a:ext cx="8599800" cy="4449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10588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>
                <a:solidFill>
                  <a:srgbClr val="1C4587"/>
                </a:solidFill>
              </a:rPr>
              <a:t>Лекция</a:t>
            </a:r>
            <a:r>
              <a:rPr b="1" lang="cs" sz="2800">
                <a:solidFill>
                  <a:srgbClr val="1C4587"/>
                </a:solidFill>
              </a:rPr>
              <a:t> </a:t>
            </a:r>
            <a:r>
              <a:rPr b="1" lang="cs">
                <a:solidFill>
                  <a:srgbClr val="1C4587"/>
                </a:solidFill>
              </a:rPr>
              <a:t>3</a:t>
            </a:r>
            <a:endParaRPr b="1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 sz="3500">
                <a:solidFill>
                  <a:srgbClr val="1C4587"/>
                </a:solidFill>
              </a:rPr>
              <a:t>Boolean, операторы сравнение, логические операторы, условие if…else, тернарный оператор</a:t>
            </a:r>
            <a:endParaRPr b="1" sz="31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3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3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 sz="2800">
                <a:solidFill>
                  <a:srgbClr val="1C4587"/>
                </a:solidFill>
              </a:rPr>
              <a:t>лектор </a:t>
            </a:r>
            <a:r>
              <a:rPr b="1" lang="cs">
                <a:solidFill>
                  <a:srgbClr val="1C4587"/>
                </a:solidFill>
              </a:rPr>
              <a:t>Олексий Шевченко</a:t>
            </a:r>
            <a:endParaRPr b="1">
              <a:solidFill>
                <a:srgbClr val="1C458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63775" y="284538"/>
            <a:ext cx="8520600" cy="4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8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2B3990"/>
                </a:solidFill>
              </a:rPr>
              <a:t>Boolean -  </a:t>
            </a:r>
            <a:r>
              <a:rPr lang="cs" sz="1600">
                <a:solidFill>
                  <a:srgbClr val="2B3990"/>
                </a:solidFill>
              </a:rPr>
              <a:t>это базовый тип данных в JavaScript и других языках </a:t>
            </a:r>
            <a:r>
              <a:rPr lang="cs" sz="1600">
                <a:solidFill>
                  <a:srgbClr val="2B3990"/>
                </a:solidFill>
              </a:rPr>
              <a:t>программирования</a:t>
            </a:r>
            <a:r>
              <a:rPr lang="cs" sz="1600">
                <a:solidFill>
                  <a:srgbClr val="2B3990"/>
                </a:solidFill>
              </a:rPr>
              <a:t>, который может принимать только два значения: </a:t>
            </a:r>
            <a:r>
              <a:rPr b="1" lang="cs" sz="1600">
                <a:solidFill>
                  <a:srgbClr val="2B3990"/>
                </a:solidFill>
              </a:rPr>
              <a:t>true</a:t>
            </a:r>
            <a:r>
              <a:rPr lang="cs" sz="1600">
                <a:solidFill>
                  <a:srgbClr val="2B3990"/>
                </a:solidFill>
              </a:rPr>
              <a:t> или </a:t>
            </a:r>
            <a:r>
              <a:rPr b="1" lang="cs" sz="1600">
                <a:solidFill>
                  <a:srgbClr val="2B3990"/>
                </a:solidFill>
              </a:rPr>
              <a:t>false</a:t>
            </a:r>
            <a:r>
              <a:rPr lang="cs" sz="1600">
                <a:solidFill>
                  <a:srgbClr val="2B3990"/>
                </a:solidFill>
              </a:rPr>
              <a:t>.</a:t>
            </a:r>
            <a:endParaRPr sz="1600">
              <a:solidFill>
                <a:srgbClr val="2B3990"/>
              </a:solidFill>
            </a:endParaRPr>
          </a:p>
          <a:p>
            <a:pPr indent="-36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</a:t>
            </a:r>
            <a:endParaRPr sz="1600">
              <a:solidFill>
                <a:srgbClr val="2B3990"/>
              </a:solidFill>
            </a:endParaRPr>
          </a:p>
          <a:p>
            <a:pPr indent="-9525" lvl="0" marL="8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Тип данных </a:t>
            </a:r>
            <a:r>
              <a:rPr b="1" lang="cs" sz="1600">
                <a:solidFill>
                  <a:srgbClr val="2B3990"/>
                </a:solidFill>
              </a:rPr>
              <a:t>Boolean</a:t>
            </a:r>
            <a:r>
              <a:rPr lang="cs" sz="1600">
                <a:solidFill>
                  <a:srgbClr val="2B3990"/>
                </a:solidFill>
              </a:rPr>
              <a:t> появился в программировании благодаря </a:t>
            </a:r>
            <a:r>
              <a:rPr b="1" lang="cs" sz="1600">
                <a:solidFill>
                  <a:srgbClr val="2B3990"/>
                </a:solidFill>
              </a:rPr>
              <a:t>Алгебре Буля </a:t>
            </a:r>
            <a:r>
              <a:rPr lang="cs" sz="1600">
                <a:solidFill>
                  <a:srgbClr val="2B3990"/>
                </a:solidFill>
              </a:rPr>
              <a:t>— разделу математической логики, созданному английским математиком и логиком </a:t>
            </a:r>
            <a:r>
              <a:rPr b="1" lang="cs" sz="1600">
                <a:solidFill>
                  <a:srgbClr val="2B3990"/>
                </a:solidFill>
              </a:rPr>
              <a:t>Джорджем Булем.</a:t>
            </a:r>
            <a:endParaRPr b="1" sz="1600">
              <a:solidFill>
                <a:srgbClr val="2B3990"/>
              </a:solidFill>
            </a:endParaRPr>
          </a:p>
          <a:p>
            <a:pPr indent="-36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Алгебра Буля изучает высказывания, которые могут</a:t>
            </a:r>
            <a:endParaRPr sz="1600">
              <a:solidFill>
                <a:srgbClr val="2B3990"/>
              </a:solidFill>
            </a:endParaRPr>
          </a:p>
          <a:p>
            <a:pPr indent="-36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иметь только два значения: истина (1) и ложь (0).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Для чего используются Булевые значения в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2B3990"/>
                </a:solidFill>
              </a:rPr>
              <a:t>програмированнии: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2B3990"/>
                </a:solidFill>
              </a:rPr>
              <a:t>        </a:t>
            </a:r>
            <a:r>
              <a:rPr lang="cs" sz="1600">
                <a:solidFill>
                  <a:srgbClr val="2B3990"/>
                </a:solidFill>
              </a:rPr>
              <a:t>- создание логики,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- создание условий,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- управления поведением программы.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2B3990"/>
              </a:solidFill>
            </a:endParaRPr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7424" y="1744650"/>
            <a:ext cx="2443250" cy="3003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63775" y="284538"/>
            <a:ext cx="8520600" cy="4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2B3990"/>
                </a:solidFill>
              </a:rPr>
              <a:t>Когда появляется булево значение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Булево значение возникает в </a:t>
            </a:r>
            <a:r>
              <a:rPr b="1" lang="cs" sz="1600">
                <a:solidFill>
                  <a:srgbClr val="2B3990"/>
                </a:solidFill>
              </a:rPr>
              <a:t>четырёх </a:t>
            </a:r>
            <a:r>
              <a:rPr lang="cs" sz="1600">
                <a:solidFill>
                  <a:srgbClr val="2B3990"/>
                </a:solidFill>
              </a:rPr>
              <a:t>основных случаях: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1. </a:t>
            </a:r>
            <a:r>
              <a:rPr b="1" lang="cs" sz="1600">
                <a:solidFill>
                  <a:srgbClr val="2B3990"/>
                </a:solidFill>
              </a:rPr>
              <a:t>При сравнении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    Любое сравнение возвращает true или false: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2. </a:t>
            </a:r>
            <a:r>
              <a:rPr b="1" lang="cs" sz="1600">
                <a:solidFill>
                  <a:srgbClr val="2B3990"/>
                </a:solidFill>
              </a:rPr>
              <a:t>В логических выражениях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    Операторы &amp;&amp;, ||, ! приводят значения к булевому типу: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    !true      // false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    true &amp;&amp; false  // false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3. </a:t>
            </a:r>
            <a:r>
              <a:rPr b="1" lang="cs" sz="1600">
                <a:solidFill>
                  <a:srgbClr val="2B3990"/>
                </a:solidFill>
              </a:rPr>
              <a:t>При проверке условий</a:t>
            </a:r>
            <a:r>
              <a:rPr lang="cs" sz="1600">
                <a:solidFill>
                  <a:srgbClr val="2B3990"/>
                </a:solidFill>
              </a:rPr>
              <a:t> (if, while, тернарный оператор)`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    JS автоматически преобразует значение к boolean: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    if ("text") { ... }   // "text" → true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    if (0) { ... }        // 0 → false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4. </a:t>
            </a:r>
            <a:r>
              <a:rPr b="1" lang="cs" sz="1600">
                <a:solidFill>
                  <a:srgbClr val="2B3990"/>
                </a:solidFill>
              </a:rPr>
              <a:t>При явном преобразовании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Через: Boolean(value)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📌 </a:t>
            </a:r>
            <a:r>
              <a:rPr b="1" lang="cs" sz="1600">
                <a:solidFill>
                  <a:srgbClr val="2B3990"/>
                </a:solidFill>
              </a:rPr>
              <a:t>Итог Без булеана невозможно писать логику — только благодаря ему код может реагировать на ситуацию.</a:t>
            </a:r>
            <a:endParaRPr b="1"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363775" y="284538"/>
            <a:ext cx="8520600" cy="4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2B3990"/>
                </a:solidFill>
              </a:rPr>
              <a:t>Операторы сравнения</a:t>
            </a:r>
            <a:r>
              <a:rPr lang="cs" sz="1600">
                <a:solidFill>
                  <a:srgbClr val="2B3990"/>
                </a:solidFill>
              </a:rPr>
              <a:t> — это специальные символы, которые сравнивают два значения и возвращают результат в виде булева значения: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    - </a:t>
            </a:r>
            <a:r>
              <a:rPr b="1" lang="cs" sz="1600">
                <a:solidFill>
                  <a:srgbClr val="2B3990"/>
                </a:solidFill>
              </a:rPr>
              <a:t>true</a:t>
            </a:r>
            <a:r>
              <a:rPr lang="cs" sz="1600">
                <a:solidFill>
                  <a:srgbClr val="2B3990"/>
                </a:solidFill>
              </a:rPr>
              <a:t> — сравнение истинно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- </a:t>
            </a:r>
            <a:r>
              <a:rPr b="1" lang="cs" sz="1600">
                <a:solidFill>
                  <a:srgbClr val="2B3990"/>
                </a:solidFill>
              </a:rPr>
              <a:t>false</a:t>
            </a:r>
            <a:r>
              <a:rPr lang="cs" sz="1600">
                <a:solidFill>
                  <a:srgbClr val="2B3990"/>
                </a:solidFill>
              </a:rPr>
              <a:t> — сравнение ложно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Операторы сравнения в JS делятся на два важных типа: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            ✔ обычные сравнения величин (больше/меньше)</a:t>
            </a:r>
            <a:endParaRPr b="1" sz="1600">
              <a:solidFill>
                <a:srgbClr val="2B3990"/>
              </a:solidFill>
            </a:endParaRPr>
          </a:p>
          <a:p>
            <a:pPr indent="-330200" lvl="0" marL="117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lang="cs" sz="1600">
                <a:solidFill>
                  <a:srgbClr val="2B3990"/>
                </a:solidFill>
              </a:rPr>
              <a:t>a &gt; b і a &lt; b - сторого больше/ строго менше</a:t>
            </a:r>
            <a:endParaRPr sz="1600">
              <a:solidFill>
                <a:srgbClr val="2B3990"/>
              </a:solidFill>
            </a:endParaRPr>
          </a:p>
          <a:p>
            <a:pPr indent="-330200" lvl="0" marL="117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lang="cs" sz="1600">
                <a:solidFill>
                  <a:srgbClr val="2B3990"/>
                </a:solidFill>
              </a:rPr>
              <a:t>a &gt;= b і a &lt;= b - больше/менше или равно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 </a:t>
            </a:r>
            <a:r>
              <a:rPr b="1" lang="cs" sz="1600">
                <a:solidFill>
                  <a:srgbClr val="2B3990"/>
                </a:solidFill>
              </a:rPr>
              <a:t>✔ сравнение на равенство (с тонкостями)</a:t>
            </a:r>
            <a:endParaRPr b="1" sz="1600">
              <a:solidFill>
                <a:srgbClr val="2B3990"/>
              </a:solidFill>
            </a:endParaRPr>
          </a:p>
          <a:p>
            <a:pPr indent="-330200" lvl="0" marL="117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lang="cs" sz="1600">
                <a:solidFill>
                  <a:srgbClr val="2B3990"/>
                </a:solidFill>
              </a:rPr>
              <a:t>a == b - нестрогое </a:t>
            </a:r>
            <a:r>
              <a:rPr lang="cs" sz="1600">
                <a:solidFill>
                  <a:srgbClr val="2B3990"/>
                </a:solidFill>
              </a:rPr>
              <a:t>равенство</a:t>
            </a:r>
            <a:r>
              <a:rPr lang="cs" sz="1600">
                <a:solidFill>
                  <a:srgbClr val="2B3990"/>
                </a:solidFill>
              </a:rPr>
              <a:t> с автоматическим приведением типов данных</a:t>
            </a:r>
            <a:endParaRPr sz="1600">
              <a:solidFill>
                <a:srgbClr val="2B3990"/>
              </a:solidFill>
            </a:endParaRPr>
          </a:p>
          <a:p>
            <a:pPr indent="-330200" lvl="0" marL="117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lang="cs" sz="1600">
                <a:solidFill>
                  <a:srgbClr val="2B3990"/>
                </a:solidFill>
              </a:rPr>
              <a:t>a != b - нестрогое неравность</a:t>
            </a:r>
            <a:endParaRPr sz="1600">
              <a:solidFill>
                <a:srgbClr val="2B3990"/>
              </a:solidFill>
            </a:endParaRPr>
          </a:p>
          <a:p>
            <a:pPr indent="-330200" lvl="0" marL="117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lang="cs" sz="1600">
                <a:solidFill>
                  <a:srgbClr val="2B3990"/>
                </a:solidFill>
              </a:rPr>
              <a:t>a === b - строгая равность, </a:t>
            </a:r>
            <a:r>
              <a:rPr lang="cs" sz="1600">
                <a:solidFill>
                  <a:srgbClr val="2B3990"/>
                </a:solidFill>
              </a:rPr>
              <a:t>сравнивает</a:t>
            </a:r>
            <a:r>
              <a:rPr lang="cs" sz="1600">
                <a:solidFill>
                  <a:srgbClr val="2B3990"/>
                </a:solidFill>
              </a:rPr>
              <a:t> и типы данных и их значения</a:t>
            </a:r>
            <a:endParaRPr sz="1600">
              <a:solidFill>
                <a:srgbClr val="2B3990"/>
              </a:solidFill>
            </a:endParaRPr>
          </a:p>
          <a:p>
            <a:pPr indent="-330200" lvl="0" marL="117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lang="cs" sz="1600">
                <a:solidFill>
                  <a:srgbClr val="2B3990"/>
                </a:solidFill>
              </a:rPr>
              <a:t>a !== b - строгая неравность, проверяет не равны ли значения и типы.</a:t>
            </a:r>
            <a:endParaRPr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197175" y="117951"/>
            <a:ext cx="8520600" cy="48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2B3990"/>
                </a:solidFill>
              </a:rPr>
              <a:t>Условия</a:t>
            </a:r>
            <a:r>
              <a:rPr lang="cs" sz="1600">
                <a:solidFill>
                  <a:srgbClr val="2B3990"/>
                </a:solidFill>
              </a:rPr>
              <a:t> — это конструкция в JavaScript, которая позволяет выполнять </a:t>
            </a:r>
            <a:r>
              <a:rPr lang="cs" sz="1600">
                <a:solidFill>
                  <a:srgbClr val="2B3990"/>
                </a:solidFill>
              </a:rPr>
              <a:t>определенный</a:t>
            </a:r>
            <a:r>
              <a:rPr lang="cs" sz="1600">
                <a:solidFill>
                  <a:srgbClr val="2B3990"/>
                </a:solidFill>
              </a:rPr>
              <a:t> участок кода только если некоторое выражение является истинным (</a:t>
            </a:r>
            <a:r>
              <a:rPr b="1" lang="cs" sz="1600">
                <a:solidFill>
                  <a:srgbClr val="2B3990"/>
                </a:solidFill>
              </a:rPr>
              <a:t>true</a:t>
            </a:r>
            <a:r>
              <a:rPr lang="cs" sz="1600">
                <a:solidFill>
                  <a:srgbClr val="2B3990"/>
                </a:solidFill>
              </a:rPr>
              <a:t>).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Если условие </a:t>
            </a:r>
            <a:r>
              <a:rPr lang="cs" sz="1600">
                <a:solidFill>
                  <a:srgbClr val="2B3990"/>
                </a:solidFill>
              </a:rPr>
              <a:t>ложно</a:t>
            </a:r>
            <a:r>
              <a:rPr lang="cs" sz="1600">
                <a:solidFill>
                  <a:srgbClr val="2B3990"/>
                </a:solidFill>
              </a:rPr>
              <a:t> (</a:t>
            </a:r>
            <a:r>
              <a:rPr b="1" lang="cs" sz="1600">
                <a:solidFill>
                  <a:srgbClr val="2B3990"/>
                </a:solidFill>
              </a:rPr>
              <a:t>false</a:t>
            </a:r>
            <a:r>
              <a:rPr lang="cs" sz="1600">
                <a:solidFill>
                  <a:srgbClr val="2B3990"/>
                </a:solidFill>
              </a:rPr>
              <a:t>), код внутри блока пропускается.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Проще говоря: Условия позволяют программе «принимать решения» в зависимости от ситуации.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📌</a:t>
            </a:r>
            <a:r>
              <a:rPr b="1" lang="cs" sz="1600">
                <a:solidFill>
                  <a:srgbClr val="2B3990"/>
                </a:solidFill>
              </a:rPr>
              <a:t> Структура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</a:t>
            </a:r>
            <a:r>
              <a:rPr b="1" lang="cs" sz="1600">
                <a:solidFill>
                  <a:srgbClr val="38761D"/>
                </a:solidFill>
              </a:rPr>
              <a:t> if (условие) {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// код выполнится, если условие === true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</a:t>
            </a:r>
            <a:r>
              <a:rPr b="1" lang="cs" sz="1600">
                <a:solidFill>
                  <a:srgbClr val="38761D"/>
                </a:solidFill>
              </a:rPr>
              <a:t>  }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</a:t>
            </a:r>
            <a:r>
              <a:rPr b="1" lang="cs" sz="1600">
                <a:solidFill>
                  <a:srgbClr val="2B3990"/>
                </a:solidFill>
              </a:rPr>
              <a:t>Дополнительно можно использовать </a:t>
            </a:r>
            <a:r>
              <a:rPr b="1" lang="cs" sz="1600">
                <a:solidFill>
                  <a:srgbClr val="38761D"/>
                </a:solidFill>
              </a:rPr>
              <a:t>else</a:t>
            </a:r>
            <a:r>
              <a:rPr b="1" lang="cs" sz="1600">
                <a:solidFill>
                  <a:srgbClr val="2B3990"/>
                </a:solidFill>
              </a:rPr>
              <a:t>: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</a:t>
            </a:r>
            <a:r>
              <a:rPr b="1" lang="cs" sz="1600">
                <a:solidFill>
                  <a:srgbClr val="38761D"/>
                </a:solidFill>
              </a:rPr>
              <a:t>if (условие) {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// если true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</a:t>
            </a:r>
            <a:r>
              <a:rPr b="1" lang="cs" sz="1600">
                <a:solidFill>
                  <a:srgbClr val="38761D"/>
                </a:solidFill>
              </a:rPr>
              <a:t> } else {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// если false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</a:t>
            </a:r>
            <a:r>
              <a:rPr b="1" lang="cs" sz="1600">
                <a:solidFill>
                  <a:srgbClr val="38761D"/>
                </a:solidFill>
              </a:rPr>
              <a:t> }</a:t>
            </a:r>
            <a:endParaRPr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363775" y="284538"/>
            <a:ext cx="8520600" cy="4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Логические операторы используются для объединения или инверсии условий</a:t>
            </a:r>
            <a:r>
              <a:rPr lang="cs" sz="1600">
                <a:solidFill>
                  <a:srgbClr val="2B3990"/>
                </a:solidFill>
              </a:rPr>
              <a:t>.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lang="cs" sz="1600">
                <a:solidFill>
                  <a:srgbClr val="2B3990"/>
                </a:solidFill>
              </a:rPr>
              <a:t>логический оператор </a:t>
            </a:r>
            <a:r>
              <a:rPr b="1" lang="cs" sz="1600">
                <a:solidFill>
                  <a:srgbClr val="2B3990"/>
                </a:solidFill>
              </a:rPr>
              <a:t>AND — И</a:t>
            </a:r>
            <a:r>
              <a:rPr lang="cs" sz="1600">
                <a:solidFill>
                  <a:srgbClr val="2B3990"/>
                </a:solidFill>
              </a:rPr>
              <a:t>, Обозначение: </a:t>
            </a:r>
            <a:r>
              <a:rPr b="1" lang="cs" sz="1600">
                <a:solidFill>
                  <a:srgbClr val="2B3990"/>
                </a:solidFill>
              </a:rPr>
              <a:t>&amp;&amp;</a:t>
            </a:r>
            <a:r>
              <a:rPr lang="cs" sz="1600">
                <a:solidFill>
                  <a:srgbClr val="2B3990"/>
                </a:solidFill>
              </a:rPr>
              <a:t> - Возвращает</a:t>
            </a:r>
            <a:r>
              <a:rPr b="1" lang="cs" sz="1600">
                <a:solidFill>
                  <a:srgbClr val="2B3990"/>
                </a:solidFill>
              </a:rPr>
              <a:t> true</a:t>
            </a:r>
            <a:r>
              <a:rPr lang="cs" sz="1600">
                <a:solidFill>
                  <a:srgbClr val="2B3990"/>
                </a:solidFill>
              </a:rPr>
              <a:t>, только если </a:t>
            </a:r>
            <a:r>
              <a:rPr b="1" lang="cs" sz="1600">
                <a:solidFill>
                  <a:srgbClr val="2B3990"/>
                </a:solidFill>
              </a:rPr>
              <a:t>оба условия истинны</a:t>
            </a:r>
            <a:r>
              <a:rPr lang="cs" sz="1600">
                <a:solidFill>
                  <a:srgbClr val="2B3990"/>
                </a:solidFill>
              </a:rPr>
              <a:t>. Если хотя бы одно условие </a:t>
            </a:r>
            <a:r>
              <a:rPr b="1" lang="cs" sz="1600">
                <a:solidFill>
                  <a:srgbClr val="2B3990"/>
                </a:solidFill>
              </a:rPr>
              <a:t>false</a:t>
            </a:r>
            <a:r>
              <a:rPr lang="cs" sz="1600">
                <a:solidFill>
                  <a:srgbClr val="2B3990"/>
                </a:solidFill>
              </a:rPr>
              <a:t> — результат </a:t>
            </a:r>
            <a:r>
              <a:rPr b="1" lang="cs" sz="1600">
                <a:solidFill>
                  <a:srgbClr val="2B3990"/>
                </a:solidFill>
              </a:rPr>
              <a:t>false</a:t>
            </a:r>
            <a:r>
              <a:rPr lang="cs" sz="1600">
                <a:solidFill>
                  <a:srgbClr val="2B3990"/>
                </a:solidFill>
              </a:rPr>
              <a:t>.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lang="cs" sz="1600">
                <a:solidFill>
                  <a:srgbClr val="2B3990"/>
                </a:solidFill>
              </a:rPr>
              <a:t>логический оператор </a:t>
            </a:r>
            <a:r>
              <a:rPr b="1" lang="cs" sz="1600">
                <a:solidFill>
                  <a:srgbClr val="2B3990"/>
                </a:solidFill>
              </a:rPr>
              <a:t>OR — ИЛИ</a:t>
            </a:r>
            <a:r>
              <a:rPr lang="cs" sz="1600">
                <a:solidFill>
                  <a:srgbClr val="2B3990"/>
                </a:solidFill>
              </a:rPr>
              <a:t>, Обозначение: </a:t>
            </a:r>
            <a:r>
              <a:rPr b="1" lang="cs" sz="1600">
                <a:solidFill>
                  <a:srgbClr val="2B3990"/>
                </a:solidFill>
              </a:rPr>
              <a:t>||</a:t>
            </a:r>
            <a:r>
              <a:rPr lang="cs" sz="1600">
                <a:solidFill>
                  <a:srgbClr val="2B3990"/>
                </a:solidFill>
              </a:rPr>
              <a:t>, - Возвращает </a:t>
            </a:r>
            <a:r>
              <a:rPr b="1" lang="cs" sz="1600">
                <a:solidFill>
                  <a:srgbClr val="2B3990"/>
                </a:solidFill>
              </a:rPr>
              <a:t>true, если хотя бы одно условие истинно. </a:t>
            </a:r>
            <a:r>
              <a:rPr lang="cs" sz="1600">
                <a:solidFill>
                  <a:srgbClr val="2B3990"/>
                </a:solidFill>
              </a:rPr>
              <a:t>Только если все условия </a:t>
            </a:r>
            <a:r>
              <a:rPr b="1" lang="cs" sz="1600">
                <a:solidFill>
                  <a:srgbClr val="2B3990"/>
                </a:solidFill>
              </a:rPr>
              <a:t>false — результат false</a:t>
            </a:r>
            <a:r>
              <a:rPr lang="cs" sz="1600">
                <a:solidFill>
                  <a:srgbClr val="2B3990"/>
                </a:solidFill>
              </a:rPr>
              <a:t>.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lang="cs" sz="1600">
                <a:solidFill>
                  <a:srgbClr val="2B3990"/>
                </a:solidFill>
              </a:rPr>
              <a:t>логический оператор </a:t>
            </a:r>
            <a:r>
              <a:rPr b="1" lang="cs" sz="1600">
                <a:solidFill>
                  <a:srgbClr val="2B3990"/>
                </a:solidFill>
              </a:rPr>
              <a:t>NOT — НЕ</a:t>
            </a:r>
            <a:r>
              <a:rPr lang="cs" sz="1600">
                <a:solidFill>
                  <a:srgbClr val="2B3990"/>
                </a:solidFill>
              </a:rPr>
              <a:t>, Обозначение: </a:t>
            </a:r>
            <a:r>
              <a:rPr b="1" lang="cs" sz="1600">
                <a:solidFill>
                  <a:srgbClr val="2B3990"/>
                </a:solidFill>
              </a:rPr>
              <a:t>!</a:t>
            </a:r>
            <a:r>
              <a:rPr lang="cs" sz="1600">
                <a:solidFill>
                  <a:srgbClr val="2B3990"/>
                </a:solidFill>
              </a:rPr>
              <a:t>, Инвертирует логическое значение. То есть </a:t>
            </a:r>
            <a:r>
              <a:rPr b="1" lang="cs" sz="1600">
                <a:solidFill>
                  <a:srgbClr val="2B3990"/>
                </a:solidFill>
              </a:rPr>
              <a:t>true → false</a:t>
            </a:r>
            <a:r>
              <a:rPr lang="cs" sz="1600">
                <a:solidFill>
                  <a:srgbClr val="2B3990"/>
                </a:solidFill>
              </a:rPr>
              <a:t>, </a:t>
            </a:r>
            <a:r>
              <a:rPr b="1" lang="cs" sz="1600">
                <a:solidFill>
                  <a:srgbClr val="2B3990"/>
                </a:solidFill>
              </a:rPr>
              <a:t>false → true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2B3990"/>
                </a:solidFill>
              </a:rPr>
              <a:t>Тернарный оператор — это </a:t>
            </a:r>
            <a:r>
              <a:rPr b="1" lang="cs" sz="1600">
                <a:solidFill>
                  <a:srgbClr val="2B3990"/>
                </a:solidFill>
              </a:rPr>
              <a:t>краткая</a:t>
            </a:r>
            <a:r>
              <a:rPr b="1" lang="cs" sz="1600">
                <a:solidFill>
                  <a:srgbClr val="2B3990"/>
                </a:solidFill>
              </a:rPr>
              <a:t> запись условия.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2B3990"/>
                </a:solidFill>
              </a:rPr>
              <a:t>    </a:t>
            </a:r>
            <a:r>
              <a:rPr lang="cs" sz="1600">
                <a:solidFill>
                  <a:srgbClr val="2B3990"/>
                </a:solidFill>
              </a:rPr>
              <a:t>Он позволяет записать простую конструкцию </a:t>
            </a:r>
            <a:r>
              <a:rPr b="1" lang="cs" sz="1600">
                <a:solidFill>
                  <a:srgbClr val="2B3990"/>
                </a:solidFill>
              </a:rPr>
              <a:t>if…else </a:t>
            </a:r>
            <a:r>
              <a:rPr lang="cs" sz="1600">
                <a:solidFill>
                  <a:srgbClr val="2B3990"/>
                </a:solidFill>
              </a:rPr>
              <a:t>в одну строку.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2B3990"/>
                </a:solidFill>
              </a:rPr>
              <a:t>    Синтаксис: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2B3990"/>
                </a:solidFill>
              </a:rPr>
              <a:t>    условие</a:t>
            </a:r>
            <a:r>
              <a:rPr b="1" lang="cs" sz="1600">
                <a:solidFill>
                  <a:srgbClr val="38761D"/>
                </a:solidFill>
              </a:rPr>
              <a:t> ? </a:t>
            </a:r>
            <a:r>
              <a:rPr b="1" lang="cs" sz="1600">
                <a:solidFill>
                  <a:srgbClr val="2B3990"/>
                </a:solidFill>
              </a:rPr>
              <a:t>значение_если_true</a:t>
            </a:r>
            <a:r>
              <a:rPr b="1" lang="cs" sz="1600">
                <a:solidFill>
                  <a:srgbClr val="38761D"/>
                </a:solidFill>
              </a:rPr>
              <a:t> : </a:t>
            </a:r>
            <a:r>
              <a:rPr b="1" lang="cs" sz="1600">
                <a:solidFill>
                  <a:srgbClr val="2B3990"/>
                </a:solidFill>
              </a:rPr>
              <a:t>значение_если_false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type="title"/>
          </p:nvPr>
        </p:nvSpPr>
        <p:spPr>
          <a:xfrm>
            <a:off x="363775" y="284538"/>
            <a:ext cx="8520600" cy="4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b="1" lang="cs" sz="1600">
                <a:solidFill>
                  <a:srgbClr val="2B3990"/>
                </a:solidFill>
              </a:rPr>
              <a:t>Практика:</a:t>
            </a:r>
            <a:endParaRPr b="1" sz="1600">
              <a:solidFill>
                <a:srgbClr val="2B3990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b="1" lang="cs" sz="1600">
                <a:solidFill>
                  <a:srgbClr val="2B3990"/>
                </a:solidFill>
              </a:rPr>
              <a:t>1. Проверка возраста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Попросите пользователя ввести свой возраст. Если ему 18 или больше — вывести «Доступ разрешён». Иначе — «Доступ запрещён».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2. Проверка чётности числа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3. Больше/меньше/равно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Попросите пользователя ввести два числа.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Выведите: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- первое больше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- второе больше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- числа равны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4. Проверка логина и пароля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b="1" lang="cs" sz="1600">
                <a:solidFill>
                  <a:srgbClr val="2B3990"/>
                </a:solidFill>
              </a:rPr>
              <a:t>5. Определение сезона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Пользователь вводит число месяца (1–12).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Выведите: зима, весна, лето, осень.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type="title"/>
          </p:nvPr>
        </p:nvSpPr>
        <p:spPr>
          <a:xfrm>
            <a:off x="363775" y="284538"/>
            <a:ext cx="8520600" cy="4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547199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6. Делится ли число на 3 и 5 одновременно</a:t>
            </a:r>
            <a:endParaRPr b="1" sz="1600">
              <a:solidFill>
                <a:srgbClr val="2B3990"/>
              </a:solidFill>
            </a:endParaRPr>
          </a:p>
          <a:p>
            <a:pPr indent="-547199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2B3990"/>
              </a:solidFill>
            </a:endParaRPr>
          </a:p>
          <a:p>
            <a:pPr indent="-547199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7. Проверка длины строки</a:t>
            </a:r>
            <a:endParaRPr b="1" sz="1600">
              <a:solidFill>
                <a:srgbClr val="2B3990"/>
              </a:solidFill>
            </a:endParaRPr>
          </a:p>
          <a:p>
            <a:pPr indent="-547199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2B3990"/>
              </a:solidFill>
            </a:endParaRPr>
          </a:p>
          <a:p>
            <a:pPr indent="-54719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b="1" lang="cs" sz="1600">
                <a:solidFill>
                  <a:srgbClr val="2B3990"/>
                </a:solidFill>
              </a:rPr>
              <a:t>8. Проверка диапазона</a:t>
            </a:r>
            <a:endParaRPr b="1" sz="1600">
              <a:solidFill>
                <a:srgbClr val="2B3990"/>
              </a:solidFill>
            </a:endParaRPr>
          </a:p>
          <a:p>
            <a:pPr indent="-54719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Пользователь вводит число.</a:t>
            </a:r>
            <a:endParaRPr sz="1600">
              <a:solidFill>
                <a:srgbClr val="2B3990"/>
              </a:solidFill>
            </a:endParaRPr>
          </a:p>
          <a:p>
            <a:pPr indent="-54719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Если оно от 10 до 20 включительно — «В диапазоне».</a:t>
            </a:r>
            <a:endParaRPr sz="1600">
              <a:solidFill>
                <a:srgbClr val="2B3990"/>
              </a:solidFill>
            </a:endParaRPr>
          </a:p>
          <a:p>
            <a:pPr indent="-547199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Иначе — «Вне диапазона».</a:t>
            </a:r>
            <a:endParaRPr sz="1600">
              <a:solidFill>
                <a:srgbClr val="2B3990"/>
              </a:solidFill>
            </a:endParaRPr>
          </a:p>
          <a:p>
            <a:pPr indent="-547199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-547199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9. Вложенные условия: кинотеатр</a:t>
            </a:r>
            <a:endParaRPr b="1" sz="1600">
              <a:solidFill>
                <a:srgbClr val="2B3990"/>
              </a:solidFill>
            </a:endParaRPr>
          </a:p>
          <a:p>
            <a:pPr indent="-547199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Попросить возраст.</a:t>
            </a:r>
            <a:endParaRPr sz="1600">
              <a:solidFill>
                <a:srgbClr val="2B3990"/>
              </a:solidFill>
            </a:endParaRPr>
          </a:p>
          <a:p>
            <a:pPr indent="-547199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Если возраст &lt; 16 → доступ запрещён.</a:t>
            </a:r>
            <a:endParaRPr sz="1600">
              <a:solidFill>
                <a:srgbClr val="2B3990"/>
              </a:solidFill>
            </a:endParaRPr>
          </a:p>
          <a:p>
            <a:pPr indent="-547199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Если возраст от 16 до 18 → доступ только с родителями.</a:t>
            </a:r>
            <a:endParaRPr sz="1600">
              <a:solidFill>
                <a:srgbClr val="2B3990"/>
              </a:solidFill>
            </a:endParaRPr>
          </a:p>
          <a:p>
            <a:pPr indent="-547199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Если 18 и больше → доступ разрешён.</a:t>
            </a:r>
            <a:endParaRPr sz="1600">
              <a:solidFill>
                <a:srgbClr val="2B3990"/>
              </a:solidFill>
            </a:endParaRPr>
          </a:p>
          <a:p>
            <a:pPr indent="-547199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-547199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10. Погода и температура</a:t>
            </a:r>
            <a:endParaRPr b="1" sz="1600">
              <a:solidFill>
                <a:srgbClr val="2B3990"/>
              </a:solidFill>
            </a:endParaRPr>
          </a:p>
          <a:p>
            <a:pPr indent="-547199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Пользователь вводит погоду (sunny, cloudy, rain) и температуру.</a:t>
            </a:r>
            <a:endParaRPr sz="1600">
              <a:solidFill>
                <a:srgbClr val="2B3990"/>
              </a:solidFill>
            </a:endParaRPr>
          </a:p>
          <a:p>
            <a:pPr indent="-547199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Если (sunny или cloudy) И температура выше 15 — «Можно гулять».</a:t>
            </a:r>
            <a:endParaRPr sz="1600">
              <a:solidFill>
                <a:srgbClr val="2B3990"/>
              </a:solidFill>
            </a:endParaRPr>
          </a:p>
          <a:p>
            <a:pPr indent="-547199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Иначе — «Лучше остаться дома».</a:t>
            </a:r>
            <a:endParaRPr sz="1600">
              <a:solidFill>
                <a:srgbClr val="2B3990"/>
              </a:solidFill>
            </a:endParaRPr>
          </a:p>
          <a:p>
            <a:pPr indent="-547199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-54719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-547199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/>
          <p:nvPr>
            <p:ph type="title"/>
          </p:nvPr>
        </p:nvSpPr>
        <p:spPr>
          <a:xfrm>
            <a:off x="363775" y="284538"/>
            <a:ext cx="8520600" cy="4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2B3990"/>
                </a:solidFill>
              </a:rPr>
              <a:t>11. Проверка пробела в строке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Пользователь вводит текст. Если строка содержит пробел — вывести «Введено несколько слов». Иначе — «Одно слово».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2B3990"/>
                </a:solidFill>
              </a:rPr>
              <a:t>12. Тернарный оператор: скидка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Пользователь вводит сумму покупки. Если больше 1000 → скидка 10%, иначе 0%.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Вывести итоговую сумму (использовать тернарный оператор).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2B3990"/>
                </a:solidFill>
              </a:rPr>
              <a:t>13. Оценка по баллам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Пользователь вводит число от 0 до 100.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Вывести: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- 90–100 → Отлично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-70–89 → Хорошо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-50–69 → Удовлетворительно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-</a:t>
            </a:r>
            <a:r>
              <a:rPr lang="cs" sz="1600">
                <a:solidFill>
                  <a:srgbClr val="2B3990"/>
                </a:solidFill>
              </a:rPr>
              <a:t>менее</a:t>
            </a:r>
            <a:r>
              <a:rPr lang="cs" sz="1600">
                <a:solidFill>
                  <a:srgbClr val="2B3990"/>
                </a:solidFill>
              </a:rPr>
              <a:t> 50 → Неудовлетворительно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 txBox="1"/>
          <p:nvPr>
            <p:ph type="title"/>
          </p:nvPr>
        </p:nvSpPr>
        <p:spPr>
          <a:xfrm>
            <a:off x="363775" y="284538"/>
            <a:ext cx="8520600" cy="4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14. Форматирование имени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Пользователь вводит имя. Если имя начинается с заглавной буквы — всё хорошо.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Если с маленькой — исправить. Вывести исправленное имя.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15. Продвинутый тернарный оператор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Пользователь вводит ввозраст и видит результат: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- до 12 - ребёнок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- до 18 - подросток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- больше 18 - взрослый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/>
          <p:nvPr>
            <p:ph idx="1" type="body"/>
          </p:nvPr>
        </p:nvSpPr>
        <p:spPr>
          <a:xfrm>
            <a:off x="311700" y="378075"/>
            <a:ext cx="85206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Спасибо за внимание,</a:t>
            </a:r>
            <a:endParaRPr b="1" sz="3000">
              <a:solidFill>
                <a:srgbClr val="2B39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надеюсь, это было интересно!</a:t>
            </a:r>
            <a:endParaRPr b="1" sz="3000">
              <a:solidFill>
                <a:srgbClr val="2B39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Я готов ответить на ваши вопросы.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