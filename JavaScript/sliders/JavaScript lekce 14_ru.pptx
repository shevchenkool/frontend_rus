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b1560f1e2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g3b1560f1e2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b523e2b5ea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g3b523e2b5ea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b61ce4ed48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g3b61ce4ed4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b61ce4ed48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g3b61ce4ed48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eveloper.mozilla.org/en-US/docs/Learn_web_development/Extensions/Advanced_JavaScript_objects/Object-oriented_programming?utm_source=chatgpt.com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55350" y="515000"/>
            <a:ext cx="8599800" cy="4449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10588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cs">
                <a:solidFill>
                  <a:srgbClr val="1C4587"/>
                </a:solidFill>
              </a:rPr>
              <a:t>Лекция</a:t>
            </a:r>
            <a:r>
              <a:rPr b="1" lang="cs" sz="2800">
                <a:solidFill>
                  <a:srgbClr val="1C4587"/>
                </a:solidFill>
              </a:rPr>
              <a:t> </a:t>
            </a:r>
            <a:r>
              <a:rPr b="1" lang="cs">
                <a:solidFill>
                  <a:srgbClr val="1C4587"/>
                </a:solidFill>
              </a:rPr>
              <a:t>14</a:t>
            </a:r>
            <a:endParaRPr b="1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800">
              <a:solidFill>
                <a:srgbClr val="1C4587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3200">
                <a:solidFill>
                  <a:srgbClr val="2B3990"/>
                </a:solidFill>
              </a:rPr>
              <a:t>Объектно-ориентированное программирование (</a:t>
            </a:r>
            <a:r>
              <a:rPr b="1" lang="cs" sz="3200">
                <a:solidFill>
                  <a:srgbClr val="2B3990"/>
                </a:solidFill>
              </a:rPr>
              <a:t>ООП</a:t>
            </a:r>
            <a:r>
              <a:rPr b="1" lang="cs" sz="3200">
                <a:solidFill>
                  <a:srgbClr val="2B3990"/>
                </a:solidFill>
              </a:rPr>
              <a:t>)</a:t>
            </a:r>
            <a:endParaRPr sz="3200">
              <a:solidFill>
                <a:srgbClr val="2B3990"/>
              </a:solidFill>
            </a:endParaRPr>
          </a:p>
          <a:p>
            <a:pPr indent="0" lvl="0" marL="0" rtl="0" algn="ctr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500">
              <a:solidFill>
                <a:srgbClr val="2B3990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>
              <a:solidFill>
                <a:srgbClr val="1C458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8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8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cs" sz="2800">
                <a:solidFill>
                  <a:srgbClr val="1C4587"/>
                </a:solidFill>
              </a:rPr>
              <a:t>лектор </a:t>
            </a:r>
            <a:r>
              <a:rPr b="1" lang="cs">
                <a:solidFill>
                  <a:srgbClr val="1C4587"/>
                </a:solidFill>
              </a:rPr>
              <a:t>Олексий Шевченко</a:t>
            </a:r>
            <a:endParaRPr b="1">
              <a:solidFill>
                <a:srgbClr val="1C4587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0" y="0"/>
            <a:ext cx="8667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</p:txBody>
      </p:sp>
      <p:sp>
        <p:nvSpPr>
          <p:cNvPr id="60" name="Google Shape;60;p14"/>
          <p:cNvSpPr txBox="1"/>
          <p:nvPr/>
        </p:nvSpPr>
        <p:spPr>
          <a:xfrm>
            <a:off x="0" y="0"/>
            <a:ext cx="908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0" y="0"/>
            <a:ext cx="9011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0" y="0"/>
            <a:ext cx="8729400" cy="4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ООП (Объектно-ориентированное программирование) в JavaScript</a:t>
            </a:r>
            <a:r>
              <a:rPr lang="cs" sz="1600">
                <a:solidFill>
                  <a:srgbClr val="2B3990"/>
                </a:solidFill>
              </a:rPr>
              <a:t> — это способ организации кода, где мы группируем данные и функции в одну сущность, называемую «объектом», более детальная информация ООП в JavaScript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 u="sng">
                <a:solidFill>
                  <a:srgbClr val="0000FF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https://developer.mozilla.org/en-US/docs/Learn_web_development/Extensions/Advanced_JavaScript_objects/Object-oriented_programming?utm_source=chatgpt.com</a:t>
            </a:r>
            <a:endParaRPr sz="16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1600">
                <a:solidFill>
                  <a:srgbClr val="2B3990"/>
                </a:solidFill>
              </a:rPr>
              <a:t>Две основные составляющие ООП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1️⃣ </a:t>
            </a:r>
            <a:r>
              <a:rPr b="1" lang="cs" sz="1600">
                <a:solidFill>
                  <a:srgbClr val="2B3990"/>
                </a:solidFill>
              </a:rPr>
              <a:t>Класс (шаблон / чертёж)</a:t>
            </a:r>
            <a:r>
              <a:rPr lang="cs" sz="1600">
                <a:solidFill>
                  <a:srgbClr val="2B3990"/>
                </a:solidFill>
              </a:rPr>
              <a:t> — это описание того, как должен выглядеть объект, какие данные у него есть, какие действия он может выполнять.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Важно: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Класс не существует в реальности — это просто инструкция.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2️⃣</a:t>
            </a:r>
            <a:r>
              <a:rPr b="1" lang="cs" sz="1600">
                <a:solidFill>
                  <a:srgbClr val="2B3990"/>
                </a:solidFill>
              </a:rPr>
              <a:t> Объект (экземпляр)</a:t>
            </a:r>
            <a:r>
              <a:rPr lang="cs" sz="1600">
                <a:solidFill>
                  <a:srgbClr val="2B3990"/>
                </a:solidFill>
              </a:rPr>
              <a:t> — это конкретная реализация класса, то, что создано по чертежу, то, с чем мы реально работаем в коде.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/>
        </p:nvSpPr>
        <p:spPr>
          <a:xfrm>
            <a:off x="0" y="0"/>
            <a:ext cx="8667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</p:txBody>
      </p:sp>
      <p:sp>
        <p:nvSpPr>
          <p:cNvPr id="68" name="Google Shape;68;p15"/>
          <p:cNvSpPr txBox="1"/>
          <p:nvPr/>
        </p:nvSpPr>
        <p:spPr>
          <a:xfrm>
            <a:off x="0" y="0"/>
            <a:ext cx="908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0" y="0"/>
            <a:ext cx="9011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0" y="0"/>
            <a:ext cx="8948100" cy="48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Создадим простой класс, автопарк: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class Car {   </a:t>
            </a:r>
            <a:r>
              <a:rPr lang="cs" sz="1600">
                <a:solidFill>
                  <a:srgbClr val="2B3990"/>
                </a:solidFill>
              </a:rPr>
              <a:t>                       - </a:t>
            </a:r>
            <a:r>
              <a:rPr lang="cs" sz="1600">
                <a:solidFill>
                  <a:srgbClr val="2B3990"/>
                </a:solidFill>
              </a:rPr>
              <a:t>объявляем</a:t>
            </a:r>
            <a:r>
              <a:rPr lang="cs" sz="1600">
                <a:solidFill>
                  <a:srgbClr val="2B3990"/>
                </a:solidFill>
              </a:rPr>
              <a:t> класс с названием Car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  constructor(brand, color, year) {</a:t>
            </a:r>
            <a:r>
              <a:rPr lang="cs" sz="1600">
                <a:solidFill>
                  <a:srgbClr val="2B3990"/>
                </a:solidFill>
              </a:rPr>
              <a:t>  - это функция, вызывается автоматически, когда создаём объект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</a:t>
            </a:r>
            <a:r>
              <a:rPr b="1" lang="cs" sz="1600">
                <a:solidFill>
                  <a:srgbClr val="38761D"/>
                </a:solidFill>
              </a:rPr>
              <a:t>  this.brand = brand;</a:t>
            </a:r>
            <a:r>
              <a:rPr lang="cs" sz="1600">
                <a:solidFill>
                  <a:srgbClr val="2B3990"/>
                </a:solidFill>
              </a:rPr>
              <a:t>              - это способ JavaScript сказать: «Возьми ПРЯМО ЭТУ машину, 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                                 которую мы сейчас создаем, и запиши ЕЙ этот бренд».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</a:t>
            </a:r>
            <a:r>
              <a:rPr b="1" lang="cs" sz="1600">
                <a:solidFill>
                  <a:srgbClr val="38761D"/>
                </a:solidFill>
              </a:rPr>
              <a:t> this.color = color;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</a:t>
            </a:r>
            <a:r>
              <a:rPr b="1" lang="cs" sz="1600">
                <a:solidFill>
                  <a:srgbClr val="38761D"/>
                </a:solidFill>
              </a:rPr>
              <a:t> this.year = year;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  }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}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Создаём </a:t>
            </a:r>
            <a:r>
              <a:rPr b="1" lang="cs" sz="1600">
                <a:solidFill>
                  <a:srgbClr val="2B3990"/>
                </a:solidFill>
              </a:rPr>
              <a:t>объекты</a:t>
            </a:r>
            <a:r>
              <a:rPr b="1" lang="cs" sz="1600">
                <a:solidFill>
                  <a:srgbClr val="2B3990"/>
                </a:solidFill>
              </a:rPr>
              <a:t>: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const car1 = new Car("BMW", "black", 2020);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const car2 = new Car("Tesla", "white", 2023);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document.body.innerHTML = `&lt;h1&gt;My auto: ${car1.brand}, ${car2.brand}&lt;/h1&gt;`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console.log(car1, car2);</a:t>
            </a:r>
            <a:endParaRPr b="1" sz="160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/>
        </p:nvSpPr>
        <p:spPr>
          <a:xfrm>
            <a:off x="0" y="0"/>
            <a:ext cx="8667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</p:txBody>
      </p:sp>
      <p:sp>
        <p:nvSpPr>
          <p:cNvPr id="76" name="Google Shape;76;p16"/>
          <p:cNvSpPr txBox="1"/>
          <p:nvPr/>
        </p:nvSpPr>
        <p:spPr>
          <a:xfrm>
            <a:off x="0" y="0"/>
            <a:ext cx="908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0" y="0"/>
            <a:ext cx="9011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0" y="0"/>
            <a:ext cx="8948100" cy="4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Параметры по умолчанию и дополнительные параметры: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class Car {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    constructor(brand, year, color = "red", ...otherParams) {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    this.brand = brand;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    this.year = year;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    this.color = color;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    this.extras = otherParams;</a:t>
            </a:r>
            <a:r>
              <a:rPr lang="cs" sz="1600">
                <a:solidFill>
                  <a:srgbClr val="2B3990"/>
                </a:solidFill>
              </a:rPr>
              <a:t> // Сохраняем лишнее, если нужно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  }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}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Методы экземпляра: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getInfo() {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    return `Это ${this.brand}, цвет: ${this.color}, год выпуска: ${this.year}.`;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  }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2B399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/>
        </p:nvSpPr>
        <p:spPr>
          <a:xfrm>
            <a:off x="0" y="0"/>
            <a:ext cx="8667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</p:txBody>
      </p:sp>
      <p:sp>
        <p:nvSpPr>
          <p:cNvPr id="84" name="Google Shape;84;p17"/>
          <p:cNvSpPr txBox="1"/>
          <p:nvPr/>
        </p:nvSpPr>
        <p:spPr>
          <a:xfrm>
            <a:off x="0" y="0"/>
            <a:ext cx="908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0" y="0"/>
            <a:ext cx="9011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</p:txBody>
      </p:sp>
      <p:sp>
        <p:nvSpPr>
          <p:cNvPr id="86" name="Google Shape;86;p17"/>
          <p:cNvSpPr txBox="1"/>
          <p:nvPr/>
        </p:nvSpPr>
        <p:spPr>
          <a:xfrm>
            <a:off x="0" y="0"/>
            <a:ext cx="8948100" cy="51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static метод — это метод класса, а не объекта.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❌ он не принадлежит конкретной машине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✅ он принадлежит самой модели / чертежу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 Сравнение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 static compare(carA, carB) {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    return carA.price - carB.price;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  }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  </a:t>
            </a:r>
            <a:r>
              <a:rPr b="1" lang="cs" sz="1600">
                <a:solidFill>
                  <a:srgbClr val="38761D"/>
                </a:solidFill>
              </a:rPr>
              <a:t>Car.compare(car1, car2);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  car1.compare(car1, car2); </a:t>
            </a:r>
            <a:r>
              <a:rPr b="1" lang="cs" sz="1600">
                <a:solidFill>
                  <a:srgbClr val="2B3990"/>
                </a:solidFill>
              </a:rPr>
              <a:t>// ❌ Ошибка - Потому что у объекта нет метода compare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Наследование — это когда один класс наследует свойства и методы другого, но может: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    - добавлять свои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    - переопределять существующие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Getter / Setter — это способ: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        - контролировать доступ к данным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        - валидировать значения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        - скрывать внутреннюю реализацию</a:t>
            </a:r>
            <a:endParaRPr b="1" sz="1600">
              <a:solidFill>
                <a:srgbClr val="2B399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311700" y="378075"/>
            <a:ext cx="8520600" cy="41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3000">
                <a:solidFill>
                  <a:srgbClr val="2B3990"/>
                </a:solidFill>
                <a:latin typeface="Calibri"/>
                <a:ea typeface="Calibri"/>
                <a:cs typeface="Calibri"/>
                <a:sym typeface="Calibri"/>
              </a:rPr>
              <a:t>Спасибо за внимание,</a:t>
            </a:r>
            <a:endParaRPr b="1" sz="3000">
              <a:solidFill>
                <a:srgbClr val="2B399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3000">
                <a:solidFill>
                  <a:srgbClr val="2B3990"/>
                </a:solidFill>
                <a:latin typeface="Calibri"/>
                <a:ea typeface="Calibri"/>
                <a:cs typeface="Calibri"/>
                <a:sym typeface="Calibri"/>
              </a:rPr>
              <a:t>надеюсь, это было интересно!</a:t>
            </a:r>
            <a:endParaRPr b="1" sz="3000">
              <a:solidFill>
                <a:srgbClr val="2B399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b="1" lang="cs" sz="3000">
                <a:solidFill>
                  <a:srgbClr val="2B3990"/>
                </a:solidFill>
                <a:latin typeface="Calibri"/>
                <a:ea typeface="Calibri"/>
                <a:cs typeface="Calibri"/>
                <a:sym typeface="Calibri"/>
              </a:rPr>
              <a:t>Я готов ответить на ваши вопросы.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